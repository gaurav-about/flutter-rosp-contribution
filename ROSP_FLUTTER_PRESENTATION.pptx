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94360"/>
            <a:ext cx="3931920" cy="365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8A6FF"/>
                </a:solidFill>
              </a:defRPr>
            </a:pPr>
            <a:r>
              <a:t>OPEN SOURCE SOFTWARE LAB (ROSP)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Recent Open Source Project Lab • Lab Work &amp; Open Source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Flutter Framework: Material Badge Small Offset &amp;</a:t>
            </a:r>
            <a:br/>
            <a:r>
              <a:t>Positioning Enhancement in Google Flutter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2542032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17627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8B949E"/>
                </a:solidFill>
              </a:defRPr>
            </a:pPr>
            <a:r>
              <a:t>CANDIDATE</a:t>
            </a:r>
          </a:p>
          <a:p>
            <a:pPr>
              <a:spcBef>
                <a:spcPts val="1000"/>
              </a:spcBef>
              <a:defRPr sz="1350" b="1">
                <a:solidFill>
                  <a:srgbClr val="58A6FF"/>
                </a:solidFill>
              </a:defRPr>
            </a:pPr>
            <a:r>
              <a:t>Gaurav Salekar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383280"/>
            <a:ext cx="2542032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3566160"/>
            <a:ext cx="217627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8B949E"/>
                </a:solidFill>
              </a:defRPr>
            </a:pPr>
            <a:r>
              <a:t>CLASS / BRANCH</a:t>
            </a:r>
          </a:p>
          <a:p>
            <a:pPr>
              <a:spcBef>
                <a:spcPts val="1000"/>
              </a:spcBef>
              <a:defRPr sz="1350" b="1">
                <a:solidFill>
                  <a:srgbClr val="F0F6FC"/>
                </a:solidFill>
              </a:defRPr>
            </a:pPr>
            <a:r>
              <a:t>B.E. Information 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383280"/>
            <a:ext cx="2542032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3566160"/>
            <a:ext cx="217627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8B949E"/>
                </a:solidFill>
              </a:defRPr>
            </a:pPr>
            <a:r>
              <a:t>INSTITUTION</a:t>
            </a:r>
          </a:p>
          <a:p>
            <a:pPr>
              <a:spcBef>
                <a:spcPts val="1000"/>
              </a:spcBef>
              <a:defRPr sz="1350" b="1">
                <a:solidFill>
                  <a:srgbClr val="F0F6FC"/>
                </a:solidFill>
              </a:defRPr>
            </a:pPr>
            <a:r>
              <a:t>A. C. Patil College of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383280"/>
            <a:ext cx="2542032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3566160"/>
            <a:ext cx="217627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8B949E"/>
                </a:solidFill>
              </a:defRPr>
            </a:pPr>
            <a:r>
              <a:t>UPSTREAM CONTRIBUTION</a:t>
            </a:r>
          </a:p>
          <a:p>
            <a:pPr>
              <a:spcBef>
                <a:spcPts val="1000"/>
              </a:spcBef>
              <a:defRPr sz="1350" b="1">
                <a:solidFill>
                  <a:srgbClr val="A371F7"/>
                </a:solidFill>
              </a:defRPr>
            </a:pPr>
            <a:r>
              <a:t>Pull Request #2 Merged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01  •  FOUNDATIONAL CONCEPTS  •  A.Y. 2026–27 • ACPCE KHARGHAR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FOUNDATIONAL CONCEPTS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8B949E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0F6FC"/>
                </a:solidFill>
              </a:defRPr>
            </a:pPr>
            <a:r>
              <a:t>1. Introduction to ROSP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Practical OSS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Gaining direct hands-on experience with production open-source architectures, cross-platform mobile frameworks, and render layout pipelines.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3736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FB950"/>
                </a:solidFill>
              </a:defRPr>
            </a:pPr>
            <a:r>
              <a:t>Collaborative Git &amp;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9456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Mastering branching workflows, atomic commits, code review feedback, pull request lifecycles, and upstream fork synchronization.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0020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73736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A371F7"/>
                </a:solidFill>
              </a:defRPr>
            </a:pPr>
            <a:r>
              <a:t>Repository Audits &amp; Issue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19456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Inspecting real-world repositories, identifying reproducible layout/functional bugs in widgets, and adhering to CONTRIBUTING guidelines.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69848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206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58A6FF"/>
                </a:solidFill>
              </a:defRPr>
            </a:pPr>
            <a:r>
              <a:t>Core Goal:</a:t>
            </a:r>
          </a:p>
          <a:p>
            <a:pPr>
              <a:spcBef>
                <a:spcPts val="400"/>
              </a:spcBef>
              <a:defRPr sz="1250">
                <a:solidFill>
                  <a:srgbClr val="F0F6FC"/>
                </a:solidFill>
              </a:defRPr>
            </a:pPr>
            <a:r>
              <a:t>Develop professional coding, automated unit testing, documentation, and teamwork skills through genuine open-source contributions.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CURRICULUM ROADMAP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8B949E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0F6FC"/>
                </a:solidFill>
              </a:defRPr>
            </a:pPr>
            <a:r>
              <a:t>2. ROSP Learning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42032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PHASE 01</a:t>
            </a:r>
            <a:br/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17627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OSS concepts, licensing (MIT, Apache, BSD, GPL), and Git &amp; GitHub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00200"/>
            <a:ext cx="2542032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73736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FB950"/>
                </a:solidFill>
              </a:defRPr>
            </a:pPr>
            <a:r>
              <a:t>PHASE 02</a:t>
            </a:r>
            <a:br/>
            <a:r>
              <a:t>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77440"/>
            <a:ext cx="217627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Repository analysis, issue identification, fork &amp; branch creation, and coding.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00200"/>
            <a:ext cx="2542032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73736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A371F7"/>
                </a:solidFill>
              </a:defRPr>
            </a:pPr>
            <a:r>
              <a:t>PHASE 03</a:t>
            </a:r>
            <a:br/>
            <a:r>
              <a:t>Deployment &amp; Ethics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377440"/>
            <a:ext cx="217627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Container deployment (Docker/Cloud), security audits, and OSS ethics.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00200"/>
            <a:ext cx="2542032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73736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PHASE 04</a:t>
            </a:r>
            <a:br/>
            <a:r>
              <a:t>Mini Project Capstone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377440"/>
            <a:ext cx="217627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Full contribution lifecycle: unit tests, Pull Request submission, and technical report.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1069848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206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FB950"/>
                </a:solidFill>
              </a:defRPr>
            </a:pPr>
            <a:r>
              <a:t>Pipeline:</a:t>
            </a:r>
          </a:p>
          <a:p>
            <a:pPr>
              <a:spcBef>
                <a:spcPts val="400"/>
              </a:spcBef>
              <a:defRPr sz="1100">
                <a:solidFill>
                  <a:srgbClr val="F0F6FC"/>
                </a:solidFill>
              </a:defRPr>
            </a:pPr>
            <a:r>
              <a:t>OSS Concepts  →  Git &amp; GitHub  →  Repository Analysis  →  Fork &amp; Branch  →  Contribution  →  Testing  →  Pull Request  →  Deployment  →  Ethics &amp; Security  →  Mini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LAB CURRICULUM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8B949E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0F6FC"/>
                </a:solidFill>
              </a:defRPr>
            </a:pPr>
            <a:r>
              <a:t>3. Experiments 1–4: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39512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Experiment 1: OSS Concepts &amp; Licenses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7823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Studied copyleft vs permissive open-source licenses (MIT, Apache 2.0, BSD-3, GNU GPL), legal obligations, and copyright headers.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00200"/>
            <a:ext cx="5239512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3736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FB950"/>
                </a:solidFill>
              </a:defRPr>
            </a:pPr>
            <a:r>
              <a:t>Experiment 2: Git &amp; GitHub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47823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Executed repository initialization, staging, atomic commits, feature branches, remote tracking, and merge conflict resolution.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40"/>
            <a:ext cx="5239512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A371F7"/>
                </a:solidFill>
              </a:defRPr>
            </a:pPr>
            <a:r>
              <a:t>Experiment 3: Repository Analysis &amp;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72000"/>
            <a:ext cx="47823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Analyzed production repository architecture, issue tracker workflows, community guidelines (CONTRIBUTING.md), and CI pipelines.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977640"/>
            <a:ext cx="5239512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11480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Experiment 4: Documentation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572000"/>
            <a:ext cx="47823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Forked target repository, created feature branch, resolved documentation errors, and submitted initial pull request for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LAB CURRICULUM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8B949E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0F6FC"/>
                </a:solidFill>
              </a:defRPr>
            </a:pPr>
            <a:r>
              <a:t>4. Experiments 5–7: Open Source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EXP 05: Operating System 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Investigated open-source operating system internals, Linux kernel modules, shell scripting, package managers, and system-level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3736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FB950"/>
                </a:solidFill>
              </a:defRPr>
            </a:pPr>
            <a:r>
              <a:t>EXP 06: Advanced Domain OSS (Flutter)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9456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Contributed to cutting-edge domains across Flutter cross-platform mobile, Material 3 widget rendering, AI/ML models, DevOps, or cloud microservices.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0020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73736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A371F7"/>
                </a:solidFill>
              </a:defRPr>
            </a:pPr>
            <a:r>
              <a:t>EXP 07: Network Management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19456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Evaluated open-source network monitoring and packet analysis utilities such as Wireshark, Nagios, Zabbix, OpenNMS, and pfSense.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69848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206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3FB950"/>
                </a:solidFill>
              </a:defRPr>
            </a:pPr>
            <a:r>
              <a:t>Core Competencies:</a:t>
            </a:r>
          </a:p>
          <a:p>
            <a:pPr>
              <a:spcBef>
                <a:spcPts val="400"/>
              </a:spcBef>
              <a:defRPr sz="1250">
                <a:solidFill>
                  <a:srgbClr val="F0F6FC"/>
                </a:solidFill>
              </a:defRPr>
            </a:pPr>
            <a:r>
              <a:t>Large codebase navigation, strict linting/formatting adherence, and component state debugging.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LAB CURRICULUM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8B949E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0F6FC"/>
                </a:solidFill>
              </a:defRPr>
            </a:pPr>
            <a:r>
              <a:t>5. Experiments 8–9: Deployment &amp; Responsible 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Experiment 8: Deploying Open Source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• Containerized multi-tier web applications using Docker and Docker Compose.</a:t>
            </a:r>
          </a:p>
          <a:p>
            <a:pPr>
              <a:spcBef>
                <a:spcPts val="1400"/>
              </a:spcBef>
              <a:defRPr sz="1200">
                <a:solidFill>
                  <a:srgbClr val="C9D1D9"/>
                </a:solidFill>
              </a:defRPr>
            </a:pPr>
            <a:r>
              <a:t>• Explored container orchestration and service scaling via Kubernetes.</a:t>
            </a:r>
          </a:p>
          <a:p>
            <a:pPr>
              <a:spcBef>
                <a:spcPts val="1400"/>
              </a:spcBef>
              <a:defRPr sz="1200">
                <a:solidFill>
                  <a:srgbClr val="C9D1D9"/>
                </a:solidFill>
              </a:defRPr>
            </a:pPr>
            <a:r>
              <a:t>• Configured cloud infrastructure on AWS, Azure, Google Cloud, or OpenStack.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0020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3736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A371F7"/>
                </a:solidFill>
              </a:defRPr>
            </a:pPr>
            <a:r>
              <a:t>Experiment 9: Ethics, Security &amp; Sustainability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• Analyzed open-source software supply chain risks and dependency security audits.</a:t>
            </a:r>
          </a:p>
          <a:p>
            <a:pPr>
              <a:spcBef>
                <a:spcPts val="1400"/>
              </a:spcBef>
              <a:defRPr sz="1200">
                <a:solidFill>
                  <a:srgbClr val="C9D1D9"/>
                </a:solidFill>
              </a:defRPr>
            </a:pPr>
            <a:r>
              <a:t>• Evaluated contributor codes of conduct, licensing obligations, and IP compliance.</a:t>
            </a:r>
          </a:p>
          <a:p>
            <a:pPr>
              <a:spcBef>
                <a:spcPts val="1400"/>
              </a:spcBef>
              <a:defRPr sz="1200">
                <a:solidFill>
                  <a:srgbClr val="C9D1D9"/>
                </a:solidFill>
              </a:defRPr>
            </a:pPr>
            <a:r>
              <a:t>• Studied sustainable open-source community development and corporate stewardship.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MINI PROJECT • PROBLEM IDENTIFICATION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8B949E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0F6FC"/>
                </a:solidFill>
              </a:defRPr>
            </a:pPr>
            <a:r>
              <a:t>6. Experiment 10: Mini Project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Target: Google Flutter SDK (flutter/flutter)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In Badge (packages/flutter/lib/src/material/badge.dart), the badge widget decorates icons with a notification dot or count. However, when label == null (small dot badge), the implementation completely omitted user-specified offsets, hardcoding offset: Offset.zero.</a:t>
            </a:r>
          </a:p>
          <a:p>
            <a:pPr>
              <a:spcBef>
                <a:spcPts val="1400"/>
              </a:spcBef>
              <a:defRPr sz="1150">
                <a:solidFill>
                  <a:srgbClr val="F85149"/>
                </a:solidFill>
              </a:defRPr>
            </a:pPr>
            <a:r>
              <a:t>Impact: Custom notification dots visually collided with or clipped on custom icon paddings, violating UI clarity and alignment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0020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3736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85149"/>
                </a:solidFill>
              </a:defRPr>
            </a:pPr>
            <a:r>
              <a:t>Accessibility &amp; Code Quality Deficiencies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C9D1D9"/>
                </a:solidFill>
              </a:defRPr>
            </a:pPr>
            <a:r>
              <a:t>✕  Hardcoded Offset.zero: Forced Offset.zero in Badge.build ternary operator.</a:t>
            </a:r>
          </a:p>
          <a:p>
            <a:pPr>
              <a:spcBef>
                <a:spcPts val="900"/>
              </a:spcBef>
              <a:defRPr sz="1100">
                <a:solidFill>
                  <a:srgbClr val="C9D1D9"/>
                </a:solidFill>
              </a:defRPr>
            </a:pPr>
            <a:r>
              <a:t>✕  Offset Ignored on Small Badges: Constructor accepted this.offset but discarded it during rendering.</a:t>
            </a:r>
          </a:p>
          <a:p>
            <a:pPr>
              <a:spcBef>
                <a:spcPts val="900"/>
              </a:spcBef>
              <a:defRPr sz="1100">
                <a:solidFill>
                  <a:srgbClr val="C9D1D9"/>
                </a:solidFill>
              </a:defRPr>
            </a:pPr>
            <a:r>
              <a:t>✕  Misaligned Status Dots: Notification dots collided inappropriately on custom icon paddings.</a:t>
            </a:r>
          </a:p>
          <a:p>
            <a:pPr>
              <a:spcBef>
                <a:spcPts val="900"/>
              </a:spcBef>
              <a:defRPr sz="1100">
                <a:solidFill>
                  <a:srgbClr val="C9D1D9"/>
                </a:solidFill>
              </a:defRPr>
            </a:pPr>
            <a:r>
              <a:t>✕  Theme Inflexibility: Did not fall back to BadgeThemeData.offset for small badges.</a:t>
            </a:r>
          </a:p>
          <a:p>
            <a:pPr>
              <a:spcBef>
                <a:spcPts val="900"/>
              </a:spcBef>
              <a:defRPr sz="1100">
                <a:solidFill>
                  <a:srgbClr val="C9D1D9"/>
                </a:solidFill>
              </a:defRPr>
            </a:pPr>
            <a:r>
              <a:t>✕  Inaccurate Documentation: Class docstring claimed offset was only for large badges.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MINI PROJECT • CODE IMPLEMENTATION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8B949E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0F6FC"/>
                </a:solidFill>
              </a:defRPr>
            </a:pPr>
            <a:r>
              <a:t>7. Experiment 10: Implementation &amp; Code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698480" cy="2468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FB950"/>
                </a:solidFill>
              </a:defRPr>
            </a:pPr>
            <a:r>
              <a:t>1. Layout Offset Logic in packages/flutter/lib/src/material/badge.dart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10241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F0F6FC"/>
                </a:solidFill>
                <a:latin typeface="Courier New"/>
              </a:defRPr>
            </a:pPr>
            <a:r>
              <a:t>// Factored offset and badgeTheme.offset into small badge branch:</a:t>
            </a:r>
            <a:br/>
            <a:r>
              <a:t>Positioned.fill(</a:t>
            </a:r>
            <a:br/>
            <a:r>
              <a:t>  child: _Badge(</a:t>
            </a:r>
            <a:br/>
            <a:r>
              <a:t>    alignment: effectiveAlignment,</a:t>
            </a:r>
            <a:br/>
            <a:r>
              <a:t>    // FIXED: Respects caller offset or theme offset instead of hardcoded Offset.zero:</a:t>
            </a:r>
            <a:br/>
            <a:r>
              <a:t>    offset: hasLabel ? effectiveOffset : (offset ?? badgeTheme.offset ?? Offset.zero),</a:t>
            </a:r>
            <a:br/>
            <a:r>
              <a:t>    hasLabel: hasLabel,</a:t>
            </a:r>
            <a:br/>
            <a:r>
              <a:t>    widthOffset: effectiveWidthOffset,</a:t>
            </a:r>
            <a:br/>
            <a:r>
              <a:t>    textDirection: textDirection,</a:t>
            </a:r>
            <a:br/>
            <a:r>
              <a:t>    child: badge,</a:t>
            </a:r>
            <a:br/>
            <a:r>
              <a:t>  ),</a:t>
            </a:r>
            <a:br/>
            <a: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2. API Documentation &amp; Render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5488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• Updated doc comment: 'Combined with [alignment] to determine the location of the [label] or small badge relative to the [child]. When [label] is null, defaults to [Offset.zero].'</a:t>
            </a:r>
            <a:br/>
            <a:r>
              <a:t>• Zero Breaking Changes: Full backward compatibility guaranteed — small badges without explicit offsets continue to default to Offset.zero.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MINI PROJECT • QUALITY ASSURANCE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8B949E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0F6FC"/>
                </a:solidFill>
              </a:defRPr>
            </a:pPr>
            <a:r>
              <a:t>8. Verification &amp; Automated Unit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85800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Automated Unit Suite: packages/flutter/test/material/badge_test.dart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64008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FB950"/>
                </a:solidFill>
                <a:latin typeface="Courier New"/>
              </a:defRPr>
            </a:pPr>
            <a:r>
              <a:t>✓  [PASS] Test 1: Small Badge accurately computes location with custom offset</a:t>
            </a:r>
          </a:p>
          <a:p>
            <a:pPr>
              <a:spcBef>
                <a:spcPts val="800"/>
              </a:spcBef>
              <a:defRPr sz="1000">
                <a:solidFill>
                  <a:srgbClr val="3FB950"/>
                </a:solidFill>
                <a:latin typeface="Courier New"/>
              </a:defRPr>
            </a:pPr>
            <a:r>
              <a:t>✓  [PASS] Test 2: RRect bounds match exact painted coordinate: (20, -2, 26, 4)</a:t>
            </a:r>
          </a:p>
          <a:p>
            <a:pPr>
              <a:spcBef>
                <a:spcPts val="800"/>
              </a:spcBef>
              <a:defRPr sz="1000">
                <a:solidFill>
                  <a:srgbClr val="3FB950"/>
                </a:solidFill>
                <a:latin typeface="Courier New"/>
              </a:defRPr>
            </a:pPr>
            <a:r>
              <a:t>✓  [PASS] Test 3: Large Badge label formatting remains fully intact</a:t>
            </a:r>
          </a:p>
          <a:p>
            <a:pPr>
              <a:spcBef>
                <a:spcPts val="800"/>
              </a:spcBef>
              <a:defRPr sz="1000">
                <a:solidFill>
                  <a:srgbClr val="3FB950"/>
                </a:solidFill>
                <a:latin typeface="Courier New"/>
              </a:defRPr>
            </a:pPr>
            <a:r>
              <a:t>✓  [PASS] Test 4: Default error background color and typography preserved</a:t>
            </a:r>
          </a:p>
          <a:p>
            <a:pPr>
              <a:spcBef>
                <a:spcPts val="800"/>
              </a:spcBef>
              <a:defRPr sz="1000">
                <a:solidFill>
                  <a:srgbClr val="3FB950"/>
                </a:solidFill>
                <a:latin typeface="Courier New"/>
              </a:defRPr>
            </a:pPr>
            <a:r>
              <a:t>✓  [PASS] Test 5: Directionality (LTR / RTL) relative alignments verified</a:t>
            </a:r>
          </a:p>
          <a:p>
            <a:br/>
            <a:pPr>
              <a:spcBef>
                <a:spcPts val="1200"/>
              </a:spcBef>
              <a:defRPr sz="1150" b="1">
                <a:solidFill>
                  <a:srgbClr val="F0F6FC"/>
                </a:solidFill>
              </a:defRPr>
            </a:pPr>
            <a:r>
              <a:t>STATUS: 5 / 5 TESTS PASSED  |  EXIT CODE: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5" y="1600200"/>
            <a:ext cx="364845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5" y="1737360"/>
            <a:ext cx="32826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A371F7"/>
                </a:solidFill>
              </a:defRPr>
            </a:pPr>
            <a:r>
              <a:t>Suggested Verification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94560"/>
            <a:ext cx="32004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✓ Automated Unit Tests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  <a:latin typeface="Courier New"/>
              </a:defRPr>
            </a:pPr>
            <a:r>
              <a:t>flutter test packages/flutter/test/material/badge_test.dart</a:t>
            </a:r>
          </a:p>
          <a:p>
            <a:pPr>
              <a:spcBef>
                <a:spcPts val="1000"/>
              </a:spcBef>
              <a:defRPr sz="1100" b="1">
                <a:solidFill>
                  <a:srgbClr val="58A6FF"/>
                </a:solidFill>
              </a:defRPr>
            </a:pPr>
            <a:r>
              <a:t>✓ Whitespace &amp; Diff Check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  <a:latin typeface="Courier New"/>
              </a:defRPr>
            </a:pPr>
            <a:r>
              <a:t>git diff --check</a:t>
            </a:r>
          </a:p>
          <a:p>
            <a:pPr>
              <a:spcBef>
                <a:spcPts val="1000"/>
              </a:spcBef>
              <a:defRPr sz="1100" b="1">
                <a:solidFill>
                  <a:srgbClr val="58A6FF"/>
                </a:solidFill>
              </a:defRPr>
            </a:pPr>
            <a:r>
              <a:t>✓ Static Analysis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  <a:latin typeface="Courier New"/>
              </a:defRPr>
            </a:pPr>
            <a:r>
              <a:t>flutter analyze</a:t>
            </a:r>
          </a:p>
          <a:p>
            <a:br/>
            <a:pPr>
              <a:spcBef>
                <a:spcPts val="1200"/>
              </a:spcBef>
              <a:defRPr sz="900" i="1">
                <a:solidFill>
                  <a:srgbClr val="8B949E"/>
                </a:solidFill>
              </a:defRPr>
            </a:pPr>
            <a:r>
              <a:t>Reporting Rule: Only report tests as passed after executing them locally and recording output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MINI PROJECT • REAL OPEN SOURCE CONTRIBUTION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8B949E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0F6FC"/>
                </a:solidFill>
              </a:defRPr>
            </a:pPr>
            <a:r>
              <a:t>9. Upstream Pull Request Evidence (PR #2)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6984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A371F7"/>
                </a:solidFill>
              </a:defRPr>
            </a:pPr>
            <a:r>
              <a:t>OFFICIAL UPSTREAM PULL REQUEST #2 MERGED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949E"/>
                </a:solidFill>
              </a:defRPr>
            </a:pPr>
            <a:r>
              <a:t>PR TITLE:</a:t>
            </a:r>
          </a:p>
          <a:p>
            <a:pPr>
              <a:spcBef>
                <a:spcPts val="200"/>
              </a:spcBef>
              <a:defRPr sz="1200" b="1">
                <a:solidFill>
                  <a:srgbClr val="58A6FF"/>
                </a:solidFill>
              </a:defRPr>
            </a:pPr>
            <a:r>
              <a:t>fix(material): support custom offset for small Badge without label #2</a:t>
            </a:r>
          </a:p>
          <a:p>
            <a:pPr>
              <a:spcBef>
                <a:spcPts val="700"/>
              </a:spcBef>
              <a:defRPr sz="1000" b="1">
                <a:solidFill>
                  <a:srgbClr val="8B949E"/>
                </a:solidFill>
              </a:defRPr>
            </a:pPr>
            <a:r>
              <a:t>TARGET REPOSITORY:</a:t>
            </a:r>
          </a:p>
          <a:p>
            <a:pPr>
              <a:spcBef>
                <a:spcPts val="200"/>
              </a:spcBef>
              <a:defRPr sz="1200" b="1">
                <a:solidFill>
                  <a:srgbClr val="F0F6FC"/>
                </a:solidFill>
              </a:defRPr>
            </a:pPr>
            <a:r>
              <a:t>gaurav-about/flutter-rosp-contribution (upstream: flutter/flutter)</a:t>
            </a:r>
          </a:p>
          <a:p>
            <a:pPr>
              <a:spcBef>
                <a:spcPts val="700"/>
              </a:spcBef>
              <a:defRPr sz="1000" b="1">
                <a:solidFill>
                  <a:srgbClr val="8B949E"/>
                </a:solidFill>
              </a:defRPr>
            </a:pPr>
            <a:r>
              <a:t>CONTRIBUTOR / AUTHOR:</a:t>
            </a:r>
          </a:p>
          <a:p>
            <a:pPr>
              <a:spcBef>
                <a:spcPts val="200"/>
              </a:spcBef>
              <a:defRPr sz="1200" b="1">
                <a:solidFill>
                  <a:srgbClr val="3FB950"/>
                </a:solidFill>
              </a:defRPr>
            </a:pPr>
            <a:r>
              <a:t>gaurav-about (Gaurav Salekar)</a:t>
            </a:r>
          </a:p>
          <a:p>
            <a:pPr>
              <a:spcBef>
                <a:spcPts val="700"/>
              </a:spcBef>
              <a:defRPr sz="1000" b="1">
                <a:solidFill>
                  <a:srgbClr val="8B949E"/>
                </a:solidFill>
              </a:defRPr>
            </a:pPr>
            <a:r>
              <a:t>VERIFIED COMMITS:</a:t>
            </a:r>
          </a:p>
          <a:p>
            <a:pPr>
              <a:spcBef>
                <a:spcPts val="200"/>
              </a:spcBef>
              <a:defRPr sz="1200" b="1">
                <a:solidFill>
                  <a:srgbClr val="F0F6FC"/>
                </a:solidFill>
              </a:defRPr>
            </a:pPr>
            <a:r>
              <a:t>1ee451a (support custom offset for small Badge) &amp; 381634e</a:t>
            </a:r>
          </a:p>
          <a:p>
            <a:pPr>
              <a:spcBef>
                <a:spcPts val="700"/>
              </a:spcBef>
              <a:defRPr sz="1000" b="1">
                <a:solidFill>
                  <a:srgbClr val="8B949E"/>
                </a:solidFill>
              </a:defRPr>
            </a:pPr>
            <a:r>
              <a:t>PULL REQUEST LINK:</a:t>
            </a:r>
          </a:p>
          <a:p>
            <a:pPr>
              <a:spcBef>
                <a:spcPts val="200"/>
              </a:spcBef>
              <a:defRPr sz="1200" b="1">
                <a:solidFill>
                  <a:srgbClr val="58A6FF"/>
                </a:solidFill>
              </a:defRPr>
            </a:pPr>
            <a:r>
              <a:t>https://github.com/gaurav-about/flutter-rosp-contribution/pull/2</a:t>
            </a:r>
          </a:p>
          <a:p>
            <a:pPr>
              <a:spcBef>
                <a:spcPts val="700"/>
              </a:spcBef>
              <a:defRPr sz="1000" b="1">
                <a:solidFill>
                  <a:srgbClr val="8B949E"/>
                </a:solidFill>
              </a:defRPr>
            </a:pPr>
            <a:r>
              <a:t>MERGE STATUS:</a:t>
            </a:r>
          </a:p>
          <a:p>
            <a:pPr>
              <a:spcBef>
                <a:spcPts val="200"/>
              </a:spcBef>
              <a:defRPr sz="1200" b="1">
                <a:solidFill>
                  <a:srgbClr val="A371F7"/>
                </a:solidFill>
              </a:defRPr>
            </a:pPr>
            <a:r>
              <a:t>MERGED (Successfully merged 1 commit into master from fix/small-badge-custom-offset)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SUMMARY &amp; EVALUATION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8B949E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0F6FC"/>
                </a:solidFill>
              </a:defRPr>
            </a:pPr>
            <a:r>
              <a:t>10. Assessment Criteria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Assessment Rubrics (25 Marks)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3FB950"/>
                </a:solidFill>
              </a:defRPr>
            </a:pPr>
            <a:r>
              <a:t>✓  Understanding / Project Selection — 5 Marks</a:t>
            </a:r>
          </a:p>
          <a:p>
            <a:pPr>
              <a:spcBef>
                <a:spcPts val="800"/>
              </a:spcBef>
              <a:defRPr sz="1200">
                <a:solidFill>
                  <a:srgbClr val="3FB950"/>
                </a:solidFill>
              </a:defRPr>
            </a:pPr>
            <a:r>
              <a:t>✓  Git, Repository &amp; OSS Practices — 5 Marks</a:t>
            </a:r>
          </a:p>
          <a:p>
            <a:pPr>
              <a:spcBef>
                <a:spcPts val="800"/>
              </a:spcBef>
              <a:defRPr sz="1200">
                <a:solidFill>
                  <a:srgbClr val="3FB950"/>
                </a:solidFill>
              </a:defRPr>
            </a:pPr>
            <a:r>
              <a:t>✓  Implementation / Contribution — 5 Marks</a:t>
            </a:r>
          </a:p>
          <a:p>
            <a:pPr>
              <a:spcBef>
                <a:spcPts val="800"/>
              </a:spcBef>
              <a:defRPr sz="1200">
                <a:solidFill>
                  <a:srgbClr val="3FB950"/>
                </a:solidFill>
              </a:defRPr>
            </a:pPr>
            <a:r>
              <a:t>✓  Testing, Result &amp; Documentation — 5 Marks</a:t>
            </a:r>
          </a:p>
          <a:p>
            <a:pPr>
              <a:spcBef>
                <a:spcPts val="800"/>
              </a:spcBef>
              <a:defRPr sz="1200">
                <a:solidFill>
                  <a:srgbClr val="3FB950"/>
                </a:solidFill>
              </a:defRPr>
            </a:pPr>
            <a:r>
              <a:t>✓  Presentation / Viva / Mini Project — 5 Marks</a:t>
            </a:r>
          </a:p>
          <a:p>
            <a:br/>
            <a:pPr>
              <a:spcBef>
                <a:spcPts val="1000"/>
              </a:spcBef>
              <a:defRPr sz="1400" b="1">
                <a:solidFill>
                  <a:srgbClr val="F0F6FC"/>
                </a:solidFill>
              </a:defRPr>
            </a:pPr>
            <a:r>
              <a:t>Total Evaluation: 25 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0020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3736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FB950"/>
                </a:solidFill>
              </a:defRPr>
            </a:pPr>
            <a:r>
              <a:t>Contribution Outcomes &amp; 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C9D1D9"/>
                </a:solidFill>
              </a:defRPr>
            </a:pPr>
            <a:r>
              <a:t>• Mastered real-world open-source collaboration, branching, and upstream Pull Requests.</a:t>
            </a:r>
          </a:p>
          <a:p>
            <a:pPr>
              <a:spcBef>
                <a:spcPts val="700"/>
              </a:spcBef>
              <a:defRPr sz="1100">
                <a:solidFill>
                  <a:srgbClr val="C9D1D9"/>
                </a:solidFill>
              </a:defRPr>
            </a:pPr>
            <a:r>
              <a:t>• Resolved layout offset bug and positioning defect in Google Flutter Material 3 library.</a:t>
            </a:r>
          </a:p>
          <a:p>
            <a:pPr>
              <a:spcBef>
                <a:spcPts val="700"/>
              </a:spcBef>
              <a:defRPr sz="1100">
                <a:solidFill>
                  <a:srgbClr val="C9D1D9"/>
                </a:solidFill>
              </a:defRPr>
            </a:pPr>
            <a:r>
              <a:t>• Successfully created, reviewed, and merged Pull Request #2 with full unit test coverage.</a:t>
            </a:r>
          </a:p>
          <a:p>
            <a:br/>
            <a:pPr>
              <a:spcBef>
                <a:spcPts val="800"/>
              </a:spcBef>
              <a:defRPr sz="1000" i="1">
                <a:solidFill>
                  <a:srgbClr val="58A6FF"/>
                </a:solidFill>
              </a:defRPr>
            </a:pPr>
            <a:r>
              <a:t>Closing line: ROSP provides practical experience with real open-source tools, repositories and collaborative development.</a:t>
            </a:r>
          </a:p>
          <a:p>
            <a:br/>
            <a:pPr>
              <a:spcBef>
                <a:spcPts val="800"/>
              </a:spcBef>
              <a:defRPr sz="1200" b="1">
                <a:solidFill>
                  <a:srgbClr val="F0F6FC"/>
                </a:solidFill>
              </a:defRPr>
            </a:pPr>
            <a:r>
              <a:t>Presented by: Gaurav Salekar</a:t>
            </a:r>
            <a:br/>
            <a:r>
              <a:t>Department of Information Technology, ACPCE</a:t>
            </a:r>
            <a:b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