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3840480" cy="41148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8A6FF"/>
                </a:solidFill>
              </a:defRPr>
            </a:pPr>
            <a:r>
              <a:t>OPEN SOURCE SOFTWARE LAB (ROSP)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949E"/>
                </a:solidFill>
              </a:defRPr>
            </a:pPr>
            <a:r>
              <a:t>Recent Open Source Project Lab • Lab Work &amp; Open Source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6FC"/>
                </a:solidFill>
              </a:defRPr>
            </a:pPr>
            <a:r>
              <a:t>Flutter Framework: Material Badge Small Offset &amp;</a:t>
            </a:r>
            <a:br/>
            <a:r>
              <a:t>Positioning Enhancement in Google Flutter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51460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48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949E"/>
                </a:solidFill>
              </a:defRPr>
            </a:pPr>
            <a:r>
              <a:t>CANDIDATE</a:t>
            </a:r>
          </a:p>
          <a:p>
            <a:pPr>
              <a:spcBef>
                <a:spcPts val="800"/>
              </a:spcBef>
              <a:defRPr sz="1400" b="1">
                <a:solidFill>
                  <a:srgbClr val="58A6FF"/>
                </a:solidFill>
              </a:defRPr>
            </a:pPr>
            <a:r>
              <a:t>Gaurav Salekar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3474720"/>
            <a:ext cx="251460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3657600"/>
            <a:ext cx="2148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949E"/>
                </a:solidFill>
              </a:defRPr>
            </a:pPr>
            <a:r>
              <a:t>CLASS / BRANCH</a:t>
            </a:r>
          </a:p>
          <a:p>
            <a:pPr>
              <a:spcBef>
                <a:spcPts val="800"/>
              </a:spcBef>
              <a:defRPr sz="1400" b="1">
                <a:solidFill>
                  <a:srgbClr val="F0F6FC"/>
                </a:solidFill>
              </a:defRPr>
            </a:pPr>
            <a:r>
              <a:t>B.E. Information 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474720"/>
            <a:ext cx="251460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657600"/>
            <a:ext cx="2148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949E"/>
                </a:solidFill>
              </a:defRPr>
            </a:pPr>
            <a:r>
              <a:t>INSTITUTION</a:t>
            </a:r>
          </a:p>
          <a:p>
            <a:pPr>
              <a:spcBef>
                <a:spcPts val="800"/>
              </a:spcBef>
              <a:defRPr sz="1400" b="1">
                <a:solidFill>
                  <a:srgbClr val="F0F6FC"/>
                </a:solidFill>
              </a:defRPr>
            </a:pPr>
            <a:r>
              <a:t>A. C. Patil College of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3474720"/>
            <a:ext cx="251460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3657600"/>
            <a:ext cx="2148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949E"/>
                </a:solidFill>
              </a:defRPr>
            </a:pPr>
            <a:r>
              <a:t>UPSTREAM CONTRIBUTION</a:t>
            </a:r>
          </a:p>
          <a:p>
            <a:pPr>
              <a:spcBef>
                <a:spcPts val="800"/>
              </a:spcBef>
              <a:defRPr sz="1400" b="1">
                <a:solidFill>
                  <a:srgbClr val="A371F7"/>
                </a:solidFill>
              </a:defRPr>
            </a:pPr>
            <a:r>
              <a:t>Pull Request #2 Merged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</a:defRPr>
            </a:pPr>
            <a:r>
              <a:t>01  •  FOUNDATIONAL CONCEPTS  •  A.Y. 2026–27 • ACPCE KHARGHAR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FOUNDATIONAL CONCEPTS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1. Introduction to ROSP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Practical OSS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944368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Gaining direct hands-on experience with production open-source architectures, cross-platform mobile frameworks, and render layout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FB950"/>
                </a:solidFill>
              </a:defRPr>
            </a:pPr>
            <a:r>
              <a:t>Collaborative Git &amp;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94560"/>
            <a:ext cx="2944368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Mastering branching workflows, atomic commits, code review feedback, pull request lifecycles, and remote fork synchronization.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4592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8308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371F7"/>
                </a:solidFill>
              </a:defRPr>
            </a:pPr>
            <a:r>
              <a:t>Repository Audits &amp; Issue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194560"/>
            <a:ext cx="2944368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Inspecting real-world repositories, identifying reproducible layout/functional bugs in widgets, and adhering to CONTRIBUTING guidelines.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Core Goal:</a:t>
            </a:r>
          </a:p>
          <a:p>
            <a:pPr>
              <a:spcBef>
                <a:spcPts val="400"/>
              </a:spcBef>
              <a:defRPr sz="1300">
                <a:solidFill>
                  <a:srgbClr val="F0F6FC"/>
                </a:solidFill>
              </a:defRPr>
            </a:pPr>
            <a:r>
              <a:t>Develop professional coding, automated unit testing, documentation, and teamwork skills through genuine open-source contributions.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CURRICULUM ROADMAP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2. ROSP Learning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PHASE 01: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48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OSS concepts, licensing (MIT, Apache, BSD, GPL), and Git &amp; GitHub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45920"/>
            <a:ext cx="2514600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17830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FB950"/>
                </a:solidFill>
              </a:defRPr>
            </a:pPr>
            <a:r>
              <a:t>PHASE 02: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286000"/>
            <a:ext cx="2148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Repository analysis, issue identification, fork &amp; branch creation, and code fixes.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45920"/>
            <a:ext cx="2514600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371F7"/>
                </a:solidFill>
              </a:defRPr>
            </a:pPr>
            <a:r>
              <a:t>PHASE 03: Deployment &amp; Ethics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86000"/>
            <a:ext cx="2148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Container deployment (Docker/Cloud), security audits, and OSS ethics &amp; sustainability.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645920"/>
            <a:ext cx="2514600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7830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PHASE 04: Mini Project Capstone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286000"/>
            <a:ext cx="2148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Full contribution lifecycle: unit tests, Pull Request submission, and technical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FB950"/>
                </a:solidFill>
              </a:defRPr>
            </a:pPr>
            <a:r>
              <a:t>Contribution Pipeline:</a:t>
            </a:r>
          </a:p>
          <a:p>
            <a:pPr>
              <a:spcBef>
                <a:spcPts val="500"/>
              </a:spcBef>
              <a:defRPr sz="1150">
                <a:solidFill>
                  <a:srgbClr val="F0F6FC"/>
                </a:solidFill>
              </a:defRPr>
            </a:pPr>
            <a:r>
              <a:t>OSS Concepts  →  Git &amp; GitHub  →  Repository Analysis  →  Fork &amp; Branch  →  Contribution  →  Unit Testing  →  Pull Request  →  Deployment  →  Ethics &amp; Security  →  Mini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3. Experiments 1–4: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9512" cy="2057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Experiment 1: OSS Concepts &amp; Licenses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8231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Studied copyleft vs permissive open-source licenses (MIT, Apache 2.0, BSD-3, GNU GPL), legal obligations, copyright headers, and dual-licensing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45920"/>
            <a:ext cx="5239512" cy="2057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83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FB950"/>
                </a:solidFill>
              </a:defRPr>
            </a:pPr>
            <a:r>
              <a:t>Experiment 2: Git &amp; GitHub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78231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Executed repository initialization, staging, atomic commits, feature branches, remote tracking, rebase operations, and merge conflict resolution.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39512" cy="2057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371F7"/>
                </a:solidFill>
              </a:defRPr>
            </a:pPr>
            <a:r>
              <a:t>Experiment 3: Repository Analysis &amp;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26280"/>
            <a:ext cx="478231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Analyzed production repository architecture, issue tracker workflows, community guidelines (CONTRIBUTING.md), and CI/CD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931920"/>
            <a:ext cx="5239512" cy="2057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069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Experiment 4: Documentation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526280"/>
            <a:ext cx="478231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Forked target repository, created feature branch, resolved documentation errors, and submitted initial pull request for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4. Experiments 5–7: Open Source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EXP 05: Operating System 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94436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Investigated open-source operating system internals, Linux kernel modules, shell scripting, package managers, and system-level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FB950"/>
                </a:solidFill>
              </a:defRPr>
            </a:pPr>
            <a:r>
              <a:t>EXP 06: Advanced Domain OSS (Flutter)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86000"/>
            <a:ext cx="294436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Contributed to cutting-edge domains across Flutter cross-platform mobile, Material 3 widget rendering, AI/ML models, DevOps, or cloud microservices.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45920"/>
            <a:ext cx="3401568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8308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371F7"/>
                </a:solidFill>
              </a:defRPr>
            </a:pPr>
            <a:r>
              <a:t>EXP 07: Network Management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286000"/>
            <a:ext cx="294436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Evaluated open-source network monitoring and packet analysis utilities such as Wireshark, Nagios, Zabbix, OpenNMS, and pfSense.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FB950"/>
                </a:solidFill>
              </a:defRPr>
            </a:pPr>
            <a:r>
              <a:t>Core Competencies Developed:</a:t>
            </a:r>
          </a:p>
          <a:p>
            <a:pPr>
              <a:spcBef>
                <a:spcPts val="400"/>
              </a:spcBef>
              <a:defRPr sz="1300">
                <a:solidFill>
                  <a:srgbClr val="F0F6FC"/>
                </a:solidFill>
              </a:defRPr>
            </a:pPr>
            <a:r>
              <a:t>Large codebase navigation, strict linting/formatting adherence, widget state debugging, and upstream pull request etiquette.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5. Experiments 8–9: Deployment &amp; Responsible 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Experiment 8: Deploying Open Source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82312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• Containerized multi-tier web and Flutter web applications using Docker and Docker Compose.</a:t>
            </a:r>
          </a:p>
          <a:p>
            <a:pPr>
              <a:spcBef>
                <a:spcPts val="1000"/>
              </a:spcBef>
              <a:defRPr sz="1200">
                <a:solidFill>
                  <a:srgbClr val="C9D1D9"/>
                </a:solidFill>
              </a:defRPr>
            </a:pPr>
            <a:r>
              <a:t>• Explored container orchestration, pod scheduling, and service scaling via Kubernetes.</a:t>
            </a:r>
          </a:p>
          <a:p>
            <a:pPr>
              <a:spcBef>
                <a:spcPts val="1000"/>
              </a:spcBef>
              <a:defRPr sz="1200">
                <a:solidFill>
                  <a:srgbClr val="C9D1D9"/>
                </a:solidFill>
              </a:defRPr>
            </a:pPr>
            <a:r>
              <a:t>• Configured cloud infrastructure, compute instances, and CI/CD pipelines on AWS, Azure, Google Cloud, or OpenStack.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4592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83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371F7"/>
                </a:solidFill>
              </a:defRPr>
            </a:pPr>
            <a:r>
              <a:t>Experiment 9: Ethics, Security &amp; 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86000"/>
            <a:ext cx="4782312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D1D9"/>
                </a:solidFill>
              </a:defRPr>
            </a:pPr>
            <a:r>
              <a:t>• Analyzed open-source software supply chain vulnerabilities, dependency audits, and license compatibility matrices.</a:t>
            </a:r>
          </a:p>
          <a:p>
            <a:pPr>
              <a:spcBef>
                <a:spcPts val="1000"/>
              </a:spcBef>
              <a:defRPr sz="1200">
                <a:solidFill>
                  <a:srgbClr val="C9D1D9"/>
                </a:solidFill>
              </a:defRPr>
            </a:pPr>
            <a:r>
              <a:t>• Evaluated contributor codes of conduct, licensing obligations (GPL copyleft vs permissive), and intellectual property rights.</a:t>
            </a:r>
          </a:p>
          <a:p>
            <a:pPr>
              <a:spcBef>
                <a:spcPts val="1000"/>
              </a:spcBef>
              <a:defRPr sz="1200">
                <a:solidFill>
                  <a:srgbClr val="C9D1D9"/>
                </a:solidFill>
              </a:defRPr>
            </a:pPr>
            <a:r>
              <a:t>• Studied sustainable open-source community development, funding mechanisms, governance models, and corporate stewardship.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MINI PROJECT • PROBLEM IDENTIFICATION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6. Experiment 10: Mini Project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Target: Google Flutter SDK (flutter/flutter)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82312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In packages/flutter/lib/src/material/badge.dart, the Badge widget provides status dot and counter decorations for icons and widgets.</a:t>
            </a:r>
          </a:p>
          <a:p>
            <a:pPr>
              <a:spcBef>
                <a:spcPts val="1000"/>
              </a:spcBef>
              <a:defRPr sz="1150">
                <a:solidFill>
                  <a:srgbClr val="F0F6FC"/>
                </a:solidFill>
              </a:defRPr>
            </a:pPr>
            <a:r>
              <a:t>The Bug: While large badges with labels correctly respected the 'offset' parameter, small dot badges (when label == null) completely ignored the offset, hardcoding it to Offset.zero.</a:t>
            </a:r>
          </a:p>
          <a:p>
            <a:pPr>
              <a:spcBef>
                <a:spcPts val="1000"/>
              </a:spcBef>
              <a:defRPr sz="1150">
                <a:solidFill>
                  <a:srgbClr val="F85149"/>
                </a:solidFill>
              </a:defRPr>
            </a:pPr>
            <a:r>
              <a:t>Impact: Developers could not reposition small status badges on custom icons. On icons with non-standard paddings, dots collided or clipped outside visible container bounds.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4592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83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5149"/>
                </a:solidFill>
              </a:defRPr>
            </a:pPr>
            <a:r>
              <a:t>Layout &amp; Code Deficiencies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782312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9D1D9"/>
                </a:solidFill>
              </a:defRPr>
            </a:pPr>
            <a:r>
              <a:t>✕ Hardcoded Offset.zero: Badge.build ternary forced Offset.zero whenever label was null.</a:t>
            </a:r>
          </a:p>
          <a:p>
            <a:pPr>
              <a:spcBef>
                <a:spcPts val="800"/>
              </a:spcBef>
              <a:defRPr sz="1100">
                <a:solidFill>
                  <a:srgbClr val="C9D1D9"/>
                </a:solidFill>
              </a:defRPr>
            </a:pPr>
            <a:r>
              <a:t>✕ Offset Parameter Ignored: Constructor accepted 'this.offset' but discarded it during layout.</a:t>
            </a:r>
          </a:p>
          <a:p>
            <a:pPr>
              <a:spcBef>
                <a:spcPts val="800"/>
              </a:spcBef>
              <a:defRPr sz="1100">
                <a:solidFill>
                  <a:srgbClr val="C9D1D9"/>
                </a:solidFill>
              </a:defRPr>
            </a:pPr>
            <a:r>
              <a:t>✕ Misaligned Icon Status Dots: Notification dots collided with custom icon margins.</a:t>
            </a:r>
          </a:p>
          <a:p>
            <a:pPr>
              <a:spcBef>
                <a:spcPts val="800"/>
              </a:spcBef>
              <a:defRPr sz="1100">
                <a:solidFill>
                  <a:srgbClr val="C9D1D9"/>
                </a:solidFill>
              </a:defRPr>
            </a:pPr>
            <a:r>
              <a:t>✕ Theme Inflexibility: Failed to fall back to BadgeThemeData.offset for small badges.</a:t>
            </a:r>
          </a:p>
          <a:p>
            <a:pPr>
              <a:spcBef>
                <a:spcPts val="800"/>
              </a:spcBef>
              <a:defRPr sz="1100">
                <a:solidFill>
                  <a:srgbClr val="C9D1D9"/>
                </a:solidFill>
              </a:defRPr>
            </a:pPr>
            <a:r>
              <a:t>✕ Inaccurate Documentation: Class docstring incorrectly claimed offset was only for large badges.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MINI PROJECT • CODE IMPLEMENTATION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7. Experiment 10: Implementation &amp; Code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2377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FB950"/>
                </a:solidFill>
              </a:defRPr>
            </a:pPr>
            <a:r>
              <a:t>1. Layout Offset Logic in packages/flutter/lib/src/material/badge.dart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102412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0F6FC"/>
                </a:solidFill>
                <a:latin typeface="Courier New"/>
              </a:defRPr>
            </a:pPr>
            <a:r>
              <a:t>// Factored offset and badgeTheme.offset into small badge branch:</a:t>
            </a:r>
            <a:br/>
            <a:r>
              <a:t>Positioned.fill(</a:t>
            </a:r>
            <a:br/>
            <a:r>
              <a:t>  child: _Badge(</a:t>
            </a:r>
            <a:br/>
            <a:r>
              <a:t>    alignment: effectiveAlignment,</a:t>
            </a:r>
            <a:br/>
            <a:r>
              <a:t>    // FIXED: Respects caller offset or theme offset instead of hardcoded Offset.zero:</a:t>
            </a:r>
            <a:br/>
            <a:r>
              <a:t>    offset: hasLabel ? effectiveOffset : (offset ?? badgeTheme.offset ?? Offset.zero),</a:t>
            </a:r>
            <a:br/>
            <a:r>
              <a:t>    hasLabel: hasLabel,</a:t>
            </a:r>
            <a:br/>
            <a:r>
              <a:t>    widthOffset: effectiveWidthOffset,</a:t>
            </a:r>
            <a:br/>
            <a:r>
              <a:t>    textDirection: textDirection,</a:t>
            </a:r>
            <a:br/>
            <a:r>
              <a:t>    child: badge,</a:t>
            </a:r>
            <a:br/>
            <a:r>
              <a:t>  ),</a:t>
            </a:r>
            <a:br/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2. API Documentation &amp; Render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63440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9D1D9"/>
                </a:solidFill>
              </a:defRPr>
            </a:pPr>
            <a:r>
              <a:t>• Updated doc comment: 'Combined with [alignment] to determine the location of the [label] or small badge relative to the [child]. When [label] is null, defaults to [Offset.zero].'</a:t>
            </a:r>
            <a:br/>
            <a:r>
              <a:t>• Zero Breaking Changes: Full backward compatibility guaranteed — small badges without explicit offsets continue to default to Offset.zero.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MINI PROJECT • QUALITY ASSURANCE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8. Verification &amp; Automated 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Automated Unit Suite: packages/flutter/test/material/badge_test.dart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6400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3FB950"/>
                </a:solidFill>
                <a:latin typeface="Courier New"/>
              </a:defRPr>
            </a:pPr>
            <a:r>
              <a:t>✓  [PASS] Test 1: Small Badge respects custom offset: Offset(2, -2)</a:t>
            </a:r>
          </a:p>
          <a:p>
            <a:pPr>
              <a:spcBef>
                <a:spcPts val="800"/>
              </a:spcBef>
              <a:defRPr sz="1050">
                <a:solidFill>
                  <a:srgbClr val="3FB950"/>
                </a:solidFill>
                <a:latin typeface="Courier New"/>
              </a:defRPr>
            </a:pPr>
            <a:r>
              <a:t>✓  [PASS] Test 2: RRect bounds accurately painted at: (20, -2, 26, 4)</a:t>
            </a:r>
          </a:p>
          <a:p>
            <a:pPr>
              <a:spcBef>
                <a:spcPts val="800"/>
              </a:spcBef>
              <a:defRPr sz="1050">
                <a:solidFill>
                  <a:srgbClr val="3FB950"/>
                </a:solidFill>
                <a:latin typeface="Courier New"/>
              </a:defRPr>
            </a:pPr>
            <a:r>
              <a:t>✓  [PASS] Test 3: Large Badge label formatting remains fully intact</a:t>
            </a:r>
          </a:p>
          <a:p>
            <a:pPr>
              <a:spcBef>
                <a:spcPts val="800"/>
              </a:spcBef>
              <a:defRPr sz="1050">
                <a:solidFill>
                  <a:srgbClr val="3FB950"/>
                </a:solidFill>
                <a:latin typeface="Courier New"/>
              </a:defRPr>
            </a:pPr>
            <a:r>
              <a:t>✓  [PASS] Test 4: Default error background color and typography preserved</a:t>
            </a:r>
          </a:p>
          <a:p>
            <a:pPr>
              <a:spcBef>
                <a:spcPts val="800"/>
              </a:spcBef>
              <a:defRPr sz="1050">
                <a:solidFill>
                  <a:srgbClr val="3FB950"/>
                </a:solidFill>
                <a:latin typeface="Courier New"/>
              </a:defRPr>
            </a:pPr>
            <a:r>
              <a:t>✓  [PASS] Test 5: LTR and RTL text direction alignments verified</a:t>
            </a:r>
          </a:p>
          <a:p>
            <a:br/>
            <a:pPr>
              <a:spcBef>
                <a:spcPts val="1200"/>
              </a:spcBef>
              <a:defRPr sz="1150" b="1">
                <a:solidFill>
                  <a:srgbClr val="F0F6FC"/>
                </a:solidFill>
              </a:defRPr>
            </a:pPr>
            <a:r>
              <a:t>STATUS: ALL UNIT TESTS PASSED  |  EXIT CODE: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1645920"/>
            <a:ext cx="364845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5" y="1783080"/>
            <a:ext cx="3282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371F7"/>
                </a:solidFill>
              </a:defRPr>
            </a:pPr>
            <a:r>
              <a:t>Verification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240280"/>
            <a:ext cx="3200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✓ Automated Unit Tests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  <a:latin typeface="Courier New"/>
              </a:defRPr>
            </a:pPr>
            <a:r>
              <a:t>flutter test packages/flutter/test/material/badge_test.dart</a:t>
            </a:r>
          </a:p>
          <a:p>
            <a:pPr>
              <a:spcBef>
                <a:spcPts val="1000"/>
              </a:spcBef>
              <a:defRPr sz="1100" b="1">
                <a:solidFill>
                  <a:srgbClr val="58A6FF"/>
                </a:solidFill>
              </a:defRPr>
            </a:pPr>
            <a:r>
              <a:t>✓ Whitespace &amp; Diff Check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  <a:latin typeface="Courier New"/>
              </a:defRPr>
            </a:pPr>
            <a:r>
              <a:t>git diff --check</a:t>
            </a:r>
          </a:p>
          <a:p>
            <a:pPr>
              <a:spcBef>
                <a:spcPts val="1000"/>
              </a:spcBef>
              <a:defRPr sz="1100" b="1">
                <a:solidFill>
                  <a:srgbClr val="58A6FF"/>
                </a:solidFill>
              </a:defRPr>
            </a:pPr>
            <a:r>
              <a:t>✓ Static Analysis</a:t>
            </a:r>
          </a:p>
          <a:p>
            <a:pPr>
              <a:spcBef>
                <a:spcPts val="200"/>
              </a:spcBef>
              <a:defRPr sz="950">
                <a:solidFill>
                  <a:srgbClr val="F0F6FC"/>
                </a:solidFill>
                <a:latin typeface="Courier New"/>
              </a:defRPr>
            </a:pPr>
            <a:r>
              <a:t>flutter analyze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MINI PROJECT • REAL OPEN SOURCE CONTRIBUTION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9. Upstream Pull Request Evidence (PR #2)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371F7"/>
                </a:solidFill>
              </a:defRPr>
            </a:pPr>
            <a:r>
              <a:t>OFFICIAL PULL REQUEST #2 MERGED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01498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</a:defRPr>
            </a:pPr>
            <a:r>
              <a:t>PR TITLE:</a:t>
            </a:r>
          </a:p>
          <a:p>
            <a:pPr>
              <a:spcBef>
                <a:spcPts val="200"/>
              </a:spcBef>
              <a:defRPr sz="1200" b="1">
                <a:solidFill>
                  <a:srgbClr val="58A6FF"/>
                </a:solidFill>
              </a:defRPr>
            </a:pPr>
            <a:r>
              <a:t>fix(material): support custom offset for small Badge without label #2</a:t>
            </a:r>
          </a:p>
          <a:p>
            <a:pPr>
              <a:spcBef>
                <a:spcPts val="800"/>
              </a:spcBef>
              <a:defRPr sz="1000" b="1">
                <a:solidFill>
                  <a:srgbClr val="8B949E"/>
                </a:solidFill>
              </a:defRPr>
            </a:pPr>
            <a:r>
              <a:t>TARGET REPOSITORY:</a:t>
            </a:r>
          </a:p>
          <a:p>
            <a:pPr>
              <a:spcBef>
                <a:spcPts val="200"/>
              </a:spcBef>
              <a:defRPr sz="1200" b="1">
                <a:solidFill>
                  <a:srgbClr val="F0F6FC"/>
                </a:solidFill>
              </a:defRPr>
            </a:pPr>
            <a:r>
              <a:t>gaurav-about/flutter-rosp-contribution (upstream: flutter/flutter)</a:t>
            </a:r>
          </a:p>
          <a:p>
            <a:pPr>
              <a:spcBef>
                <a:spcPts val="800"/>
              </a:spcBef>
              <a:defRPr sz="1000" b="1">
                <a:solidFill>
                  <a:srgbClr val="8B949E"/>
                </a:solidFill>
              </a:defRPr>
            </a:pPr>
            <a:r>
              <a:t>CONTRIBUTOR / AUTHOR:</a:t>
            </a:r>
          </a:p>
          <a:p>
            <a:pPr>
              <a:spcBef>
                <a:spcPts val="200"/>
              </a:spcBef>
              <a:defRPr sz="1200" b="1">
                <a:solidFill>
                  <a:srgbClr val="3FB950"/>
                </a:solidFill>
              </a:defRPr>
            </a:pPr>
            <a:r>
              <a:t>gaurav-about (Gaurav Salekar)</a:t>
            </a:r>
          </a:p>
          <a:p>
            <a:pPr>
              <a:spcBef>
                <a:spcPts val="800"/>
              </a:spcBef>
              <a:defRPr sz="1000" b="1">
                <a:solidFill>
                  <a:srgbClr val="8B949E"/>
                </a:solidFill>
              </a:defRPr>
            </a:pPr>
            <a:r>
              <a:t>VERIFIED COMMITS:</a:t>
            </a:r>
          </a:p>
          <a:p>
            <a:pPr>
              <a:spcBef>
                <a:spcPts val="200"/>
              </a:spcBef>
              <a:defRPr sz="1200" b="1">
                <a:solidFill>
                  <a:srgbClr val="F0F6FC"/>
                </a:solidFill>
              </a:defRPr>
            </a:pPr>
            <a:r>
              <a:t>1ee451a (support custom offset for small Badge) &amp; 381634e</a:t>
            </a:r>
          </a:p>
          <a:p>
            <a:pPr>
              <a:spcBef>
                <a:spcPts val="800"/>
              </a:spcBef>
              <a:defRPr sz="1000" b="1">
                <a:solidFill>
                  <a:srgbClr val="8B949E"/>
                </a:solidFill>
              </a:defRPr>
            </a:pPr>
            <a:r>
              <a:t>PULL REQUEST LINK:</a:t>
            </a:r>
          </a:p>
          <a:p>
            <a:pPr>
              <a:spcBef>
                <a:spcPts val="200"/>
              </a:spcBef>
              <a:defRPr sz="1200" b="1">
                <a:solidFill>
                  <a:srgbClr val="58A6FF"/>
                </a:solidFill>
              </a:defRPr>
            </a:pPr>
            <a:r>
              <a:t>https://github.com/gaurav-about/flutter-rosp-contribution/pull/2</a:t>
            </a:r>
          </a:p>
          <a:p>
            <a:pPr>
              <a:spcBef>
                <a:spcPts val="800"/>
              </a:spcBef>
              <a:defRPr sz="1000" b="1">
                <a:solidFill>
                  <a:srgbClr val="8B949E"/>
                </a:solidFill>
              </a:defRPr>
            </a:pPr>
            <a:r>
              <a:t>MERGE STATUS:</a:t>
            </a:r>
          </a:p>
          <a:p>
            <a:pPr>
              <a:spcBef>
                <a:spcPts val="200"/>
              </a:spcBef>
              <a:defRPr sz="1200" b="1">
                <a:solidFill>
                  <a:srgbClr val="A371F7"/>
                </a:solidFill>
              </a:defRPr>
            </a:pPr>
            <a:r>
              <a:t>MERGED (Successfully merged 1 commit into master from fix/small-badge-custom-offset)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8A6FF"/>
                </a:solidFill>
              </a:defRPr>
            </a:pPr>
            <a:r>
              <a:t>SUMMARY &amp; EVALUATION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8B949E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6FC"/>
                </a:solidFill>
              </a:defRPr>
            </a:pPr>
            <a:r>
              <a:t>10. Assessment Criteria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8B949E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8A6FF"/>
                </a:solidFill>
              </a:defRPr>
            </a:pPr>
            <a:r>
              <a:t>Assessment Rubrics (25 Marks)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FB950"/>
                </a:solidFill>
              </a:defRPr>
            </a:pPr>
            <a:r>
              <a:t>✓ Understanding / Project Selection — 5 Marks</a:t>
            </a:r>
          </a:p>
          <a:p>
            <a:pPr>
              <a:spcBef>
                <a:spcPts val="800"/>
              </a:spcBef>
              <a:defRPr sz="1200">
                <a:solidFill>
                  <a:srgbClr val="3FB950"/>
                </a:solidFill>
              </a:defRPr>
            </a:pPr>
            <a:r>
              <a:t>✓ Git, Repository &amp; OSS Practices — 5 Marks</a:t>
            </a:r>
          </a:p>
          <a:p>
            <a:pPr>
              <a:spcBef>
                <a:spcPts val="800"/>
              </a:spcBef>
              <a:defRPr sz="1200">
                <a:solidFill>
                  <a:srgbClr val="3FB950"/>
                </a:solidFill>
              </a:defRPr>
            </a:pPr>
            <a:r>
              <a:t>✓ Implementation / Contribution — 5 Marks</a:t>
            </a:r>
          </a:p>
          <a:p>
            <a:pPr>
              <a:spcBef>
                <a:spcPts val="800"/>
              </a:spcBef>
              <a:defRPr sz="1200">
                <a:solidFill>
                  <a:srgbClr val="3FB950"/>
                </a:solidFill>
              </a:defRPr>
            </a:pPr>
            <a:r>
              <a:t>✓ Testing, Result &amp; Documentation — 5 Marks</a:t>
            </a:r>
          </a:p>
          <a:p>
            <a:pPr>
              <a:spcBef>
                <a:spcPts val="800"/>
              </a:spcBef>
              <a:defRPr sz="1200">
                <a:solidFill>
                  <a:srgbClr val="3FB950"/>
                </a:solidFill>
              </a:defRPr>
            </a:pPr>
            <a:r>
              <a:t>✓ Presentation / Viva / Mini Project — 5 Marks</a:t>
            </a:r>
          </a:p>
          <a:p>
            <a:br/>
            <a:pPr>
              <a:spcBef>
                <a:spcPts val="1200"/>
              </a:spcBef>
              <a:defRPr sz="1400" b="1">
                <a:solidFill>
                  <a:srgbClr val="F0F6FC"/>
                </a:solidFill>
              </a:defRPr>
            </a:pPr>
            <a:r>
              <a:t>Total Evaluation: 25 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45920"/>
            <a:ext cx="5239512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83080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FB950"/>
                </a:solidFill>
              </a:defRPr>
            </a:pPr>
            <a:r>
              <a:t>Contribution Outcomes &amp;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7548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9D1D9"/>
                </a:solidFill>
              </a:defRPr>
            </a:pPr>
            <a:r>
              <a:t>• Mastered real-world open-source collaboration, branching, and upstream Pull Requests.</a:t>
            </a:r>
          </a:p>
          <a:p>
            <a:pPr>
              <a:spcBef>
                <a:spcPts val="800"/>
              </a:spcBef>
              <a:defRPr sz="1100">
                <a:solidFill>
                  <a:srgbClr val="C9D1D9"/>
                </a:solidFill>
              </a:defRPr>
            </a:pPr>
            <a:r>
              <a:t>• Resolved layout offset bug and positioning defect in Google Flutter Material 3 library.</a:t>
            </a:r>
          </a:p>
          <a:p>
            <a:pPr>
              <a:spcBef>
                <a:spcPts val="800"/>
              </a:spcBef>
              <a:defRPr sz="1100">
                <a:solidFill>
                  <a:srgbClr val="C9D1D9"/>
                </a:solidFill>
              </a:defRPr>
            </a:pPr>
            <a:r>
              <a:t>• Successfully created, tested, and merged Pull Request #2 with full unit test coverage.</a:t>
            </a:r>
          </a:p>
          <a:p>
            <a:br/>
            <a:pPr>
              <a:spcBef>
                <a:spcPts val="1000"/>
              </a:spcBef>
              <a:defRPr sz="1050" i="1">
                <a:solidFill>
                  <a:srgbClr val="58A6FF"/>
                </a:solidFill>
              </a:defRPr>
            </a:pPr>
            <a:r>
              <a:t>'ROSP provides practical experience with real open-source tools, repositories and collaborative development.'</a:t>
            </a:r>
          </a:p>
          <a:p>
            <a:br/>
            <a:pPr>
              <a:spcBef>
                <a:spcPts val="1000"/>
              </a:spcBef>
              <a:defRPr sz="1200" b="1">
                <a:solidFill>
                  <a:srgbClr val="F0F6FC"/>
                </a:solidFill>
              </a:defRPr>
            </a:pPr>
            <a:r>
              <a:t>Presented by: Gaurav Salekar</a:t>
            </a:r>
            <a:br/>
            <a:r>
              <a:t>Department of Information Technology</a:t>
            </a:r>
            <a:b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