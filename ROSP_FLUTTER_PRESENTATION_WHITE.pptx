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594360"/>
            <a:ext cx="4114800" cy="411480"/>
          </a:xfrm>
          <a:prstGeom prst="roundRect">
            <a:avLst/>
          </a:prstGeom>
          <a:solidFill>
            <a:srgbClr val="EBF5FF"/>
          </a:solidFill>
          <a:ln w="1905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50" b="1">
                <a:solidFill>
                  <a:srgbClr val="0969DA"/>
                </a:solidFill>
              </a:defRPr>
            </a:pPr>
            <a:r>
              <a:t>OPEN SOURCE SOFTWARE LAB (ROSP)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57606A"/>
                </a:solidFill>
              </a:defRPr>
            </a:pPr>
            <a:r>
              <a:t>Recent Open Source Project Lab • Lab Work &amp; Open Source Contribution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54480"/>
            <a:ext cx="106984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800" b="1">
                <a:solidFill>
                  <a:srgbClr val="0969DA"/>
                </a:solidFill>
              </a:defRPr>
            </a:pPr>
            <a:r>
              <a:t>Flutter Framework: Material Badge Small Offset &amp;</a:t>
            </a:r>
            <a:br/>
            <a:r>
              <a:t>Positioning Enhancement in Google Flutter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383280"/>
            <a:ext cx="2542032" cy="20116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32688" y="3611880"/>
            <a:ext cx="21396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57606A"/>
                </a:solidFill>
              </a:defRPr>
            </a:pPr>
            <a:r>
              <a:t>CANDIDATE</a:t>
            </a:r>
          </a:p>
          <a:p>
            <a:pPr>
              <a:spcBef>
                <a:spcPts val="1000"/>
              </a:spcBef>
              <a:defRPr sz="1450" b="1">
                <a:solidFill>
                  <a:srgbClr val="0969DA"/>
                </a:solidFill>
              </a:defRPr>
            </a:pPr>
            <a:r>
              <a:t>Gaurav Salekar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56432" y="3383280"/>
            <a:ext cx="2542032" cy="20116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0" y="3611880"/>
            <a:ext cx="21396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57606A"/>
                </a:solidFill>
              </a:defRPr>
            </a:pPr>
            <a:r>
              <a:t>CLASS / BRANCH</a:t>
            </a:r>
          </a:p>
          <a:p>
            <a:pPr>
              <a:spcBef>
                <a:spcPts val="1000"/>
              </a:spcBef>
              <a:defRPr sz="1450" b="1">
                <a:solidFill>
                  <a:srgbClr val="1F2328"/>
                </a:solidFill>
              </a:defRPr>
            </a:pPr>
            <a:r>
              <a:t>B.E. Information Technology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81344" y="3383280"/>
            <a:ext cx="2542032" cy="20116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3611880"/>
            <a:ext cx="21396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57606A"/>
                </a:solidFill>
              </a:defRPr>
            </a:pPr>
            <a:r>
              <a:t>INSTITUTION</a:t>
            </a:r>
          </a:p>
          <a:p>
            <a:pPr>
              <a:spcBef>
                <a:spcPts val="1000"/>
              </a:spcBef>
              <a:defRPr sz="1450" b="1">
                <a:solidFill>
                  <a:srgbClr val="1F2328"/>
                </a:solidFill>
              </a:defRPr>
            </a:pPr>
            <a:r>
              <a:t>A. C. Patil College of Engineering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06256" y="3383280"/>
            <a:ext cx="2542032" cy="20116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3611880"/>
            <a:ext cx="2139696" cy="1554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050" b="1">
                <a:solidFill>
                  <a:srgbClr val="57606A"/>
                </a:solidFill>
              </a:defRPr>
            </a:pPr>
            <a:r>
              <a:t>UPSTREAM CONTRIBUTION</a:t>
            </a:r>
          </a:p>
          <a:p>
            <a:pPr>
              <a:spcBef>
                <a:spcPts val="1000"/>
              </a:spcBef>
              <a:defRPr sz="1450" b="1">
                <a:solidFill>
                  <a:srgbClr val="8250DF"/>
                </a:solidFill>
              </a:defRPr>
            </a:pPr>
            <a:r>
              <a:t>Pull Request #2 Merged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608076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57606A"/>
                </a:solidFill>
              </a:defRPr>
            </a:pPr>
            <a:r>
              <a:t>01  •  FOUNDATIONAL CONCEPTS  •  A.Y. 2026–27 • ACPCE KHARGHAR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FOUNDATIONAL CONCEPTS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1. Introduction to ROSP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01568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Practical OSS Exposure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24292F"/>
                </a:solidFill>
              </a:defRPr>
            </a:pPr>
            <a:r>
              <a:t>Gaining direct hands-on experience with production open-source architectures, cross-platform mobile frameworks, and render layout pipelines.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01568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6479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Collaborative Git &amp; GitHub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4028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24292F"/>
                </a:solidFill>
              </a:defRPr>
            </a:pPr>
            <a:r>
              <a:t>Mastering branching workflows, atomic commits, code review feedback, pull request lifecycles, and upstream fork synchronization.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00200"/>
            <a:ext cx="3401568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6479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250DF"/>
                </a:solidFill>
              </a:defRPr>
            </a:pPr>
            <a:r>
              <a:t>Repository Audits &amp; Issue Selection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24028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24292F"/>
                </a:solidFill>
              </a:defRPr>
            </a:pPr>
            <a:r>
              <a:t>Inspecting real-world repositories, identifying reproducible layout/functional bugs in widgets, and adhering to CONTRIBUTING guidelines.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EBF5FF"/>
          </a:solidFill>
          <a:ln w="15240">
            <a:solidFill>
              <a:srgbClr val="0969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38928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0969DA"/>
                </a:solidFill>
              </a:defRPr>
            </a:pPr>
            <a:r>
              <a:t>Core Goal:</a:t>
            </a:r>
          </a:p>
          <a:p>
            <a:pPr>
              <a:spcBef>
                <a:spcPts val="400"/>
              </a:spcBef>
              <a:defRPr sz="1350">
                <a:solidFill>
                  <a:srgbClr val="1F2328"/>
                </a:solidFill>
              </a:defRPr>
            </a:pPr>
            <a:r>
              <a:t>Develop professional coding, automated unit testing, documentation, and teamwork skills through genuine open-source contributions.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CURRICULUM ROADMAP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2. ROSP Learning Journey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2542032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PHASE 01</a:t>
            </a:r>
            <a:br/>
            <a:r>
              <a:t>Foundation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423160"/>
            <a:ext cx="213969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OSS concepts, licensing (MIT, Apache, BSD, GPL), and Git &amp; GitHub operations.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456432" y="1600200"/>
            <a:ext cx="2542032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57600" y="1764792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PHASE 02</a:t>
            </a:r>
            <a:br/>
            <a:r>
              <a:t>Contribution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57600" y="2423160"/>
            <a:ext cx="213969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Repository analysis, issue identification, fork &amp; branch creation, and coding.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81344" y="1600200"/>
            <a:ext cx="2542032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82512" y="1764792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250DF"/>
                </a:solidFill>
              </a:defRPr>
            </a:pPr>
            <a:r>
              <a:t>PHASE 03</a:t>
            </a:r>
            <a:br/>
            <a:r>
              <a:t>Deployment &amp; Ethics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82512" y="2423160"/>
            <a:ext cx="213969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Container deployment (Docker/Cloud), security audits, and OSS ethics.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00200"/>
            <a:ext cx="2542032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07424" y="1764792"/>
            <a:ext cx="213969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PHASE 04</a:t>
            </a:r>
            <a:br/>
            <a:r>
              <a:t>Mini Project Capstone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07424" y="2423160"/>
            <a:ext cx="2139696" cy="2103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Full contribution lifecycle: unit tests, Pull Request submission, and technical report.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0120" y="5138928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 b="1">
                <a:solidFill>
                  <a:srgbClr val="1A7F37"/>
                </a:solidFill>
              </a:defRPr>
            </a:pPr>
            <a:r>
              <a:t>Pipeline:</a:t>
            </a:r>
          </a:p>
          <a:p>
            <a:pPr>
              <a:spcBef>
                <a:spcPts val="400"/>
              </a:spcBef>
              <a:defRPr sz="1200" b="1">
                <a:solidFill>
                  <a:srgbClr val="1F2328"/>
                </a:solidFill>
              </a:defRPr>
            </a:pPr>
            <a:r>
              <a:t>OSS Concepts  →  Git &amp; GitHub  →  Repository Analysis  →  Fork &amp; Branch  →  Contribution  →  Testing  →  Pull Request  →  Deployment  →  Ethics &amp; Security  →  Mini Project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3. Experiments 1–4: Foundation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39512" cy="21488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Experiment 1: OSS Concepts &amp; Licenses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21992"/>
            <a:ext cx="47823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Studied copyleft vs permissive open-source licenses (MIT, Apache 2.0, BSD-3, GNU GPL), legal obligations, and copyright headers.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9512" cy="21488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76479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Experiment 2: Git &amp; GitHub Operations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21992"/>
            <a:ext cx="47823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Executed repository initialization, staging, atomic commits, feature branches, remote tracking, and merge conflict resolution.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77640"/>
            <a:ext cx="5239512" cy="21488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414223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250DF"/>
                </a:solidFill>
              </a:defRPr>
            </a:pPr>
            <a:r>
              <a:t>Experiment 3: Repository Analysis &amp; Issues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599432"/>
            <a:ext cx="47823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Analyzed production repository architecture, issue tracker workflows, community guidelines (CONTRIBUTING.md), and CI pipelines.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0488" y="3977640"/>
            <a:ext cx="5239512" cy="21488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91656" y="414223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Experiment 4: Documentation Contribution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19088" y="4599432"/>
            <a:ext cx="4782312" cy="1371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Forked target repository, created feature branch, resolved documentation errors, and submitted initial pull request for review.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4. Experiments 5–7: Open Source Contribution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3401568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EXP 05: Operating System OSS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24292F"/>
                </a:solidFill>
              </a:defRPr>
            </a:pPr>
            <a:r>
              <a:t>Investigated open-source operating system internals, Linux kernel modules, shell scripting, package managers, and system-level configuration.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600200"/>
            <a:ext cx="3401568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76479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EXP 06: Advanced Domain OSS (Flutter)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9432" y="224028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24292F"/>
                </a:solidFill>
              </a:defRPr>
            </a:pPr>
            <a:r>
              <a:t>Contributed to cutting-edge domains across Flutter cross-platform mobile, Material 3 widget rendering, AI/ML models, DevOps, or cloud microservices.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0144" y="1600200"/>
            <a:ext cx="3401568" cy="31089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11312" y="1764792"/>
            <a:ext cx="2999232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250DF"/>
                </a:solidFill>
              </a:defRPr>
            </a:pPr>
            <a:r>
              <a:t>EXP 07: Network Management Tools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38744" y="2240280"/>
            <a:ext cx="2944368" cy="22860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24292F"/>
                </a:solidFill>
              </a:defRPr>
            </a:pPr>
            <a:r>
              <a:t>Evaluated open-source network monitoring and packet analysis utilities such as Wireshark, Nagios, Zabbix, OpenNMS, and pfSense.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83480"/>
            <a:ext cx="10698480" cy="128016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5138928"/>
            <a:ext cx="10241280" cy="10058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 b="1">
                <a:solidFill>
                  <a:srgbClr val="1A7F37"/>
                </a:solidFill>
              </a:defRPr>
            </a:pPr>
            <a:r>
              <a:t>Core Competencies:</a:t>
            </a:r>
          </a:p>
          <a:p>
            <a:pPr>
              <a:spcBef>
                <a:spcPts val="400"/>
              </a:spcBef>
              <a:defRPr sz="1350">
                <a:solidFill>
                  <a:srgbClr val="1F2328"/>
                </a:solidFill>
              </a:defRPr>
            </a:pPr>
            <a:r>
              <a:t>Large codebase navigation, strict linting/formatting adherence, and component state debugging.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LAB CURRICULUM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5. Experiments 8–9: Deployment &amp; Responsible OSS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39512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Experiment 8: Deploying Open Source Services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24028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24292F"/>
                </a:solidFill>
              </a:defRPr>
            </a:pPr>
            <a:r>
              <a:t>• Containerized multi-tier web applications using Docker and Docker Compose.</a:t>
            </a:r>
          </a:p>
          <a:p>
            <a:pPr>
              <a:spcBef>
                <a:spcPts val="1400"/>
              </a:spcBef>
              <a:defRPr sz="1350">
                <a:solidFill>
                  <a:srgbClr val="24292F"/>
                </a:solidFill>
              </a:defRPr>
            </a:pPr>
            <a:r>
              <a:t>• Explored container orchestration and service scaling via Kubernetes.</a:t>
            </a:r>
          </a:p>
          <a:p>
            <a:pPr>
              <a:spcBef>
                <a:spcPts val="1400"/>
              </a:spcBef>
              <a:defRPr sz="1350">
                <a:solidFill>
                  <a:srgbClr val="24292F"/>
                </a:solidFill>
              </a:defRPr>
            </a:pPr>
            <a:r>
              <a:t>• Configured cloud infrastructure on AWS, Azure, Google Cloud, or OpenStack.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9512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76479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250DF"/>
                </a:solidFill>
              </a:defRPr>
            </a:pPr>
            <a:r>
              <a:t>Experiment 9: Ethics, Security &amp; Sustainability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24028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50">
                <a:solidFill>
                  <a:srgbClr val="24292F"/>
                </a:solidFill>
              </a:defRPr>
            </a:pPr>
            <a:r>
              <a:t>• Analyzed open-source software supply chain risks and dependency security audits.</a:t>
            </a:r>
          </a:p>
          <a:p>
            <a:pPr>
              <a:spcBef>
                <a:spcPts val="1400"/>
              </a:spcBef>
              <a:defRPr sz="1350">
                <a:solidFill>
                  <a:srgbClr val="24292F"/>
                </a:solidFill>
              </a:defRPr>
            </a:pPr>
            <a:r>
              <a:t>• Evaluated contributor codes of conduct, licensing obligations, and IP compliance.</a:t>
            </a:r>
          </a:p>
          <a:p>
            <a:pPr>
              <a:spcBef>
                <a:spcPts val="1400"/>
              </a:spcBef>
              <a:defRPr sz="1350">
                <a:solidFill>
                  <a:srgbClr val="24292F"/>
                </a:solidFill>
              </a:defRPr>
            </a:pPr>
            <a:r>
              <a:t>• Studied sustainable open-source community development and corporate stewardship.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MINI PROJECT • PROBLEM IDENTIFICATION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6. Experiment 10: Mini Project Problem Statement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39512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Target: Google Flutter SDK (flutter/flutter)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In Badge (packages/flutter/lib/src/material/badge.dart), the badge widget decorates icons with a notification dot or count. However, when label == null (small dot badge), the implementation completely omitted user-specified offsets, hardcoding offset: Offset.zero.</a:t>
            </a:r>
          </a:p>
          <a:p>
            <a:pPr>
              <a:spcBef>
                <a:spcPts val="1400"/>
              </a:spcBef>
              <a:defRPr sz="1300" b="1">
                <a:solidFill>
                  <a:srgbClr val="CF222E"/>
                </a:solidFill>
              </a:defRPr>
            </a:pPr>
            <a:r>
              <a:t>Impact: Custom notification dots visually collided with or clipped on custom icon paddings, violating UI clarity and alignment standards.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9512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76479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CF222E"/>
                </a:solidFill>
              </a:defRPr>
            </a:pPr>
            <a:r>
              <a:t>Accessibility &amp; Code Quality Deficiencies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>
                <a:solidFill>
                  <a:srgbClr val="24292F"/>
                </a:solidFill>
              </a:defRPr>
            </a:pPr>
            <a:r>
              <a:t>✕  Hardcoded Offset.zero: Forced Offset.zero in Badge.build ternary operator.</a:t>
            </a:r>
          </a:p>
          <a:p>
            <a:pPr>
              <a:spcBef>
                <a:spcPts val="1000"/>
              </a:spcBef>
              <a:defRPr sz="1200">
                <a:solidFill>
                  <a:srgbClr val="24292F"/>
                </a:solidFill>
              </a:defRPr>
            </a:pPr>
            <a:r>
              <a:t>✕  Offset Ignored on Small Badges: Constructor accepted this.offset but discarded it during rendering.</a:t>
            </a:r>
          </a:p>
          <a:p>
            <a:pPr>
              <a:spcBef>
                <a:spcPts val="1000"/>
              </a:spcBef>
              <a:defRPr sz="1200">
                <a:solidFill>
                  <a:srgbClr val="24292F"/>
                </a:solidFill>
              </a:defRPr>
            </a:pPr>
            <a:r>
              <a:t>✕  Misaligned Status Dots: Notification dots collided inappropriately on custom icon paddings.</a:t>
            </a:r>
          </a:p>
          <a:p>
            <a:pPr>
              <a:spcBef>
                <a:spcPts val="1000"/>
              </a:spcBef>
              <a:defRPr sz="1200">
                <a:solidFill>
                  <a:srgbClr val="24292F"/>
                </a:solidFill>
              </a:defRPr>
            </a:pPr>
            <a:r>
              <a:t>✕  Theme Inflexibility: Did not fall back to BadgeThemeData.offset for small badges.</a:t>
            </a:r>
          </a:p>
          <a:p>
            <a:pPr>
              <a:spcBef>
                <a:spcPts val="1000"/>
              </a:spcBef>
              <a:defRPr sz="1200">
                <a:solidFill>
                  <a:srgbClr val="24292F"/>
                </a:solidFill>
              </a:defRPr>
            </a:pPr>
            <a:r>
              <a:t>✕  Inaccurate Documentation: Class docstring claimed offset was only for large badges.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MINI PROJECT • CODE IMPLEMENTATION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7. Experiment 10: Implementation &amp; Code Changes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246888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1. Layout Offset Logic in packages/flutter/lib/src/material/badge.dart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48840"/>
            <a:ext cx="10241280" cy="1737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F2328"/>
                </a:solidFill>
                <a:latin typeface="Courier New"/>
              </a:defRPr>
            </a:pPr>
            <a:r>
              <a:t>// Factored offset and badgeTheme.offset into small badge branch:</a:t>
            </a:r>
            <a:br/>
            <a:r>
              <a:t>Positioned.fill(</a:t>
            </a:r>
            <a:br/>
            <a:r>
              <a:t>  child: _Badge(</a:t>
            </a:r>
            <a:br/>
            <a:r>
              <a:t>    alignment: effectiveAlignment,</a:t>
            </a:r>
            <a:br/>
            <a:r>
              <a:t>    // FIXED: Respects caller offset or theme offset instead of hardcoded Offset.zero:</a:t>
            </a:r>
            <a:br/>
            <a:r>
              <a:t>    offset: hasLabel ? effectiveOffset : (offset ?? badgeTheme.offset ?? Offset.zero),</a:t>
            </a:r>
            <a:br/>
            <a:r>
              <a:t>    hasLabel: hasLabel,</a:t>
            </a:r>
            <a:br/>
            <a:r>
              <a:t>    widthOffset: effectiveWidthOffset,</a:t>
            </a:r>
            <a:br/>
            <a:r>
              <a:t>    textDirection: textDirection,</a:t>
            </a:r>
            <a:br/>
            <a:r>
              <a:t>    child: badge,</a:t>
            </a:r>
            <a:br/>
            <a:r>
              <a:t>  ),</a:t>
            </a:r>
            <a:br/>
            <a:r>
              <a:t>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4297680"/>
            <a:ext cx="10698480" cy="192024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4462272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2. API Documentation &amp; Render Precision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4754880"/>
            <a:ext cx="10241280" cy="1280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24292F"/>
                </a:solidFill>
              </a:defRPr>
            </a:pPr>
            <a:r>
              <a:t>• Updated doc comment: 'Combined with [alignment] to determine the location of the [label] or small badge relative to the [child]. When [label] is null, defaults to [Offset.zero].'</a:t>
            </a:r>
            <a:br/>
            <a:r>
              <a:t>• Zero Breaking Changes: Full backward compatibility guaranteed — small badges without explicit offsets continue to default to Offset.zero.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MINI PROJECT • QUALITY ASSURANCE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8. Verification &amp; Automated Unit Testing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6858000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645566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Automated Unit Suite: packages/flutter/test/material/badge_test.dart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64008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1A7F37"/>
                </a:solidFill>
                <a:latin typeface="Courier New"/>
              </a:defRPr>
            </a:pPr>
            <a:r>
              <a:t>✓  [PASS] Test 1: Small Badge accurately computes location with custom offset</a:t>
            </a:r>
          </a:p>
          <a:p>
            <a:pPr>
              <a:spcBef>
                <a:spcPts val="800"/>
              </a:spcBef>
              <a:defRPr sz="1100" b="1">
                <a:solidFill>
                  <a:srgbClr val="1A7F37"/>
                </a:solidFill>
                <a:latin typeface="Courier New"/>
              </a:defRPr>
            </a:pPr>
            <a:r>
              <a:t>✓  [PASS] Test 2: RRect bounds match exact painted coordinate: (20, -2, 26, 4)</a:t>
            </a:r>
          </a:p>
          <a:p>
            <a:pPr>
              <a:spcBef>
                <a:spcPts val="800"/>
              </a:spcBef>
              <a:defRPr sz="1100" b="1">
                <a:solidFill>
                  <a:srgbClr val="1A7F37"/>
                </a:solidFill>
                <a:latin typeface="Courier New"/>
              </a:defRPr>
            </a:pPr>
            <a:r>
              <a:t>✓  [PASS] Test 3: Large Badge label formatting remains fully intact</a:t>
            </a:r>
          </a:p>
          <a:p>
            <a:pPr>
              <a:spcBef>
                <a:spcPts val="800"/>
              </a:spcBef>
              <a:defRPr sz="1100" b="1">
                <a:solidFill>
                  <a:srgbClr val="1A7F37"/>
                </a:solidFill>
                <a:latin typeface="Courier New"/>
              </a:defRPr>
            </a:pPr>
            <a:r>
              <a:t>✓  [PASS] Test 4: Default error background color and typography preserved</a:t>
            </a:r>
          </a:p>
          <a:p>
            <a:pPr>
              <a:spcBef>
                <a:spcPts val="800"/>
              </a:spcBef>
              <a:defRPr sz="1100" b="1">
                <a:solidFill>
                  <a:srgbClr val="1A7F37"/>
                </a:solidFill>
                <a:latin typeface="Courier New"/>
              </a:defRPr>
            </a:pPr>
            <a:r>
              <a:t>✓  [PASS] Test 5: Directionality (LTR / RTL) relative alignments verified</a:t>
            </a:r>
          </a:p>
          <a:p>
            <a:br/>
            <a:pPr>
              <a:spcBef>
                <a:spcPts val="1200"/>
              </a:spcBef>
              <a:defRPr sz="1300" b="1">
                <a:solidFill>
                  <a:srgbClr val="0969DA"/>
                </a:solidFill>
              </a:defRPr>
            </a:pPr>
            <a:r>
              <a:t>STATUS: 5 / 5 TESTS PASSED  |  EXIT CODE: 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808975" y="1600200"/>
            <a:ext cx="3648456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10143" y="1764792"/>
            <a:ext cx="3246120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250DF"/>
                </a:solidFill>
              </a:defRPr>
            </a:pPr>
            <a:r>
              <a:t>Suggested Verification Commands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01000" y="2194560"/>
            <a:ext cx="320040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00" b="1">
                <a:solidFill>
                  <a:srgbClr val="0969DA"/>
                </a:solidFill>
              </a:defRPr>
            </a:pPr>
            <a:r>
              <a:t>✓ Automated Unit Tests</a:t>
            </a:r>
          </a:p>
          <a:p>
            <a:pPr>
              <a:spcBef>
                <a:spcPts val="200"/>
              </a:spcBef>
              <a:defRPr sz="1050">
                <a:solidFill>
                  <a:srgbClr val="1F2328"/>
                </a:solidFill>
                <a:latin typeface="Courier New"/>
              </a:defRPr>
            </a:pPr>
            <a:r>
              <a:t>flutter test packages/flutter/test/material/badge_test.dart</a:t>
            </a:r>
          </a:p>
          <a:p>
            <a:pPr>
              <a:spcBef>
                <a:spcPts val="1000"/>
              </a:spcBef>
              <a:defRPr sz="1200" b="1">
                <a:solidFill>
                  <a:srgbClr val="0969DA"/>
                </a:solidFill>
              </a:defRPr>
            </a:pPr>
            <a:r>
              <a:t>✓ Whitespace &amp; Diff Check</a:t>
            </a:r>
          </a:p>
          <a:p>
            <a:pPr>
              <a:spcBef>
                <a:spcPts val="200"/>
              </a:spcBef>
              <a:defRPr sz="1050">
                <a:solidFill>
                  <a:srgbClr val="1F2328"/>
                </a:solidFill>
                <a:latin typeface="Courier New"/>
              </a:defRPr>
            </a:pPr>
            <a:r>
              <a:t>git diff --check</a:t>
            </a:r>
          </a:p>
          <a:p>
            <a:pPr>
              <a:spcBef>
                <a:spcPts val="1000"/>
              </a:spcBef>
              <a:defRPr sz="1200" b="1">
                <a:solidFill>
                  <a:srgbClr val="0969DA"/>
                </a:solidFill>
              </a:defRPr>
            </a:pPr>
            <a:r>
              <a:t>✓ Static Analysis</a:t>
            </a:r>
          </a:p>
          <a:p>
            <a:pPr>
              <a:spcBef>
                <a:spcPts val="200"/>
              </a:spcBef>
              <a:defRPr sz="1050">
                <a:solidFill>
                  <a:srgbClr val="1F2328"/>
                </a:solidFill>
                <a:latin typeface="Courier New"/>
              </a:defRPr>
            </a:pPr>
            <a:r>
              <a:t>flutter analyze</a:t>
            </a:r>
          </a:p>
          <a:p>
            <a:br/>
            <a:pPr>
              <a:spcBef>
                <a:spcPts val="1200"/>
              </a:spcBef>
              <a:defRPr sz="1000" i="1">
                <a:solidFill>
                  <a:srgbClr val="57606A"/>
                </a:solidFill>
              </a:defRPr>
            </a:pPr>
            <a:r>
              <a:t>Reporting Rule: Only report tests as passed after executing them locally and recording output logs.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MINI PROJECT • REAL OPEN SOURCE CONTRIBUTION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9. Upstream Pull Request Evidence (PR #2)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10698480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10296144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8250DF"/>
                </a:solidFill>
              </a:defRPr>
            </a:pPr>
            <a:r>
              <a:t>OFFICIAL UPSTREAM PULL REQUEST #2 MERGED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194560"/>
            <a:ext cx="10149840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57606A"/>
                </a:solidFill>
              </a:defRPr>
            </a:pPr>
            <a:r>
              <a:t>PR TITLE:</a:t>
            </a:r>
          </a:p>
          <a:p>
            <a:pPr>
              <a:spcBef>
                <a:spcPts val="200"/>
              </a:spcBef>
              <a:defRPr sz="1350" b="1">
                <a:solidFill>
                  <a:srgbClr val="0969DA"/>
                </a:solidFill>
              </a:defRPr>
            </a:pPr>
            <a:r>
              <a:t>fix(material): support custom offset for small Badge without label #2</a:t>
            </a:r>
          </a:p>
          <a:p>
            <a:pPr>
              <a:spcBef>
                <a:spcPts val="700"/>
              </a:spcBef>
              <a:defRPr sz="1100" b="1">
                <a:solidFill>
                  <a:srgbClr val="57606A"/>
                </a:solidFill>
              </a:defRPr>
            </a:pPr>
            <a:r>
              <a:t>TARGET REPOSITORY:</a:t>
            </a:r>
          </a:p>
          <a:p>
            <a:pPr>
              <a:spcBef>
                <a:spcPts val="200"/>
              </a:spcBef>
              <a:defRPr sz="1350" b="1">
                <a:solidFill>
                  <a:srgbClr val="1F2328"/>
                </a:solidFill>
              </a:defRPr>
            </a:pPr>
            <a:r>
              <a:t>gaurav-about/flutter-rosp-contribution (upstream: flutter/flutter)</a:t>
            </a:r>
          </a:p>
          <a:p>
            <a:pPr>
              <a:spcBef>
                <a:spcPts val="700"/>
              </a:spcBef>
              <a:defRPr sz="1100" b="1">
                <a:solidFill>
                  <a:srgbClr val="57606A"/>
                </a:solidFill>
              </a:defRPr>
            </a:pPr>
            <a:r>
              <a:t>CONTRIBUTOR / AUTHOR:</a:t>
            </a:r>
          </a:p>
          <a:p>
            <a:pPr>
              <a:spcBef>
                <a:spcPts val="200"/>
              </a:spcBef>
              <a:defRPr sz="1350" b="1">
                <a:solidFill>
                  <a:srgbClr val="1A7F37"/>
                </a:solidFill>
              </a:defRPr>
            </a:pPr>
            <a:r>
              <a:t>gaurav-about (Gaurav Salekar)</a:t>
            </a:r>
          </a:p>
          <a:p>
            <a:pPr>
              <a:spcBef>
                <a:spcPts val="700"/>
              </a:spcBef>
              <a:defRPr sz="1100" b="1">
                <a:solidFill>
                  <a:srgbClr val="57606A"/>
                </a:solidFill>
              </a:defRPr>
            </a:pPr>
            <a:r>
              <a:t>VERIFIED COMMITS:</a:t>
            </a:r>
          </a:p>
          <a:p>
            <a:pPr>
              <a:spcBef>
                <a:spcPts val="200"/>
              </a:spcBef>
              <a:defRPr sz="1350" b="1">
                <a:solidFill>
                  <a:srgbClr val="1F2328"/>
                </a:solidFill>
              </a:defRPr>
            </a:pPr>
            <a:r>
              <a:t>1ee451a (support custom offset for small Badge) &amp; 381634e</a:t>
            </a:r>
          </a:p>
          <a:p>
            <a:pPr>
              <a:spcBef>
                <a:spcPts val="700"/>
              </a:spcBef>
              <a:defRPr sz="1100" b="1">
                <a:solidFill>
                  <a:srgbClr val="57606A"/>
                </a:solidFill>
              </a:defRPr>
            </a:pPr>
            <a:r>
              <a:t>PULL REQUEST LINK:</a:t>
            </a:r>
          </a:p>
          <a:p>
            <a:pPr>
              <a:spcBef>
                <a:spcPts val="200"/>
              </a:spcBef>
              <a:defRPr sz="1350" b="1">
                <a:solidFill>
                  <a:srgbClr val="0969DA"/>
                </a:solidFill>
              </a:defRPr>
            </a:pPr>
            <a:r>
              <a:t>https://github.com/gaurav-about/flutter-rosp-contribution/pull/2</a:t>
            </a:r>
          </a:p>
          <a:p>
            <a:pPr>
              <a:spcBef>
                <a:spcPts val="700"/>
              </a:spcBef>
              <a:defRPr sz="1100" b="1">
                <a:solidFill>
                  <a:srgbClr val="57606A"/>
                </a:solidFill>
              </a:defRPr>
            </a:pPr>
            <a:r>
              <a:t>MERGE STATUS:</a:t>
            </a:r>
          </a:p>
          <a:p>
            <a:pPr>
              <a:spcBef>
                <a:spcPts val="200"/>
              </a:spcBef>
              <a:defRPr sz="1350" b="1">
                <a:solidFill>
                  <a:srgbClr val="8250DF"/>
                </a:solidFill>
              </a:defRPr>
            </a:pPr>
            <a:r>
              <a:t>MERGED (Successfully merged 1 commit into master from fix/small-badge-custom-offset)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2608"/>
            <a:ext cx="9144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00" b="1">
                <a:solidFill>
                  <a:srgbClr val="0969DA"/>
                </a:solidFill>
              </a:defRPr>
            </a:pPr>
            <a:r>
              <a:t>SUMMARY &amp; EVALUATION  •  A.Y. 2026–27 • ACPCE KHARGHAR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0" y="292608"/>
            <a:ext cx="13716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defRPr sz="1500" b="1">
                <a:solidFill>
                  <a:srgbClr val="57606A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21792"/>
            <a:ext cx="106984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2300" b="1">
                <a:solidFill>
                  <a:srgbClr val="0969DA"/>
                </a:solidFill>
              </a:defRPr>
            </a:pPr>
            <a:r>
              <a:t>10. Assessment Criteria &amp; Outcomes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43000"/>
            <a:ext cx="1069848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150">
                <a:solidFill>
                  <a:srgbClr val="57606A"/>
                </a:solidFill>
              </a:defRPr>
            </a:pPr>
            <a:r>
              <a:t>Recent Open Source Project Lab • Presented by Gaurav Salekar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600200"/>
            <a:ext cx="5239512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32688" y="176479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0969DA"/>
                </a:solidFill>
              </a:defRPr>
            </a:pPr>
            <a:r>
              <a:t>Assessment Rubrics (25 Marks)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219456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300">
                <a:solidFill>
                  <a:srgbClr val="1A7F37"/>
                </a:solidFill>
              </a:defRPr>
            </a:pPr>
            <a:r>
              <a:t>✓  Understanding / Project Selection — 5 Marks</a:t>
            </a:r>
          </a:p>
          <a:p>
            <a:pPr>
              <a:spcBef>
                <a:spcPts val="800"/>
              </a:spcBef>
              <a:defRPr sz="1300">
                <a:solidFill>
                  <a:srgbClr val="1A7F37"/>
                </a:solidFill>
              </a:defRPr>
            </a:pPr>
            <a:r>
              <a:t>✓  Git, Repository &amp; OSS Practices — 5 Marks</a:t>
            </a:r>
          </a:p>
          <a:p>
            <a:pPr>
              <a:spcBef>
                <a:spcPts val="800"/>
              </a:spcBef>
              <a:defRPr sz="1300">
                <a:solidFill>
                  <a:srgbClr val="1A7F37"/>
                </a:solidFill>
              </a:defRPr>
            </a:pPr>
            <a:r>
              <a:t>✓  Implementation / Contribution — 5 Marks</a:t>
            </a:r>
          </a:p>
          <a:p>
            <a:pPr>
              <a:spcBef>
                <a:spcPts val="800"/>
              </a:spcBef>
              <a:defRPr sz="1300">
                <a:solidFill>
                  <a:srgbClr val="1A7F37"/>
                </a:solidFill>
              </a:defRPr>
            </a:pPr>
            <a:r>
              <a:t>✓  Testing, Result &amp; Documentation — 5 Marks</a:t>
            </a:r>
          </a:p>
          <a:p>
            <a:pPr>
              <a:spcBef>
                <a:spcPts val="800"/>
              </a:spcBef>
              <a:defRPr sz="1300">
                <a:solidFill>
                  <a:srgbClr val="1A7F37"/>
                </a:solidFill>
              </a:defRPr>
            </a:pPr>
            <a:r>
              <a:t>✓  Presentation / Viva / Mini Project — 5 Marks</a:t>
            </a:r>
          </a:p>
          <a:p>
            <a:br/>
            <a:pPr>
              <a:spcBef>
                <a:spcPts val="1000"/>
              </a:spcBef>
              <a:defRPr sz="1500" b="1">
                <a:solidFill>
                  <a:srgbClr val="0969DA"/>
                </a:solidFill>
              </a:defRPr>
            </a:pPr>
            <a:r>
              <a:t>Total Evaluation: 25 Marks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0488" y="1600200"/>
            <a:ext cx="5239512" cy="4572000"/>
          </a:xfrm>
          <a:prstGeom prst="roundRect">
            <a:avLst/>
          </a:prstGeom>
          <a:solidFill>
            <a:srgbClr val="F6F8FA"/>
          </a:solidFill>
          <a:ln w="15240">
            <a:solidFill>
              <a:srgbClr val="D0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91656" y="1764792"/>
            <a:ext cx="4837176" cy="365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400" b="1">
                <a:solidFill>
                  <a:srgbClr val="1A7F37"/>
                </a:solidFill>
              </a:defRPr>
            </a:pPr>
            <a:r>
              <a:t>Contribution Outcomes &amp; Conclusion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19088" y="2194560"/>
            <a:ext cx="4782312" cy="3749039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defRPr sz="1250">
                <a:solidFill>
                  <a:srgbClr val="24292F"/>
                </a:solidFill>
              </a:defRPr>
            </a:pPr>
            <a:r>
              <a:t>• Mastered real-world open-source collaboration, branching, and upstream Pull Requests.</a:t>
            </a:r>
          </a:p>
          <a:p>
            <a:pPr>
              <a:spcBef>
                <a:spcPts val="700"/>
              </a:spcBef>
              <a:defRPr sz="1250">
                <a:solidFill>
                  <a:srgbClr val="24292F"/>
                </a:solidFill>
              </a:defRPr>
            </a:pPr>
            <a:r>
              <a:t>• Resolved layout offset bug and positioning defect in Google Flutter Material 3 library.</a:t>
            </a:r>
          </a:p>
          <a:p>
            <a:pPr>
              <a:spcBef>
                <a:spcPts val="700"/>
              </a:spcBef>
              <a:defRPr sz="1250">
                <a:solidFill>
                  <a:srgbClr val="24292F"/>
                </a:solidFill>
              </a:defRPr>
            </a:pPr>
            <a:r>
              <a:t>• Successfully created, reviewed, and merged Pull Request #2 with full unit test coverage.</a:t>
            </a:r>
          </a:p>
          <a:p>
            <a:br/>
            <a:pPr>
              <a:spcBef>
                <a:spcPts val="800"/>
              </a:spcBef>
              <a:defRPr sz="1100" i="1">
                <a:solidFill>
                  <a:srgbClr val="0969DA"/>
                </a:solidFill>
              </a:defRPr>
            </a:pPr>
            <a:r>
              <a:t>Closing line: ROSP provides practical experience with real open-source tools, repositories and collaborative development.</a:t>
            </a:r>
          </a:p>
          <a:p>
            <a:br/>
            <a:pPr>
              <a:spcBef>
                <a:spcPts val="800"/>
              </a:spcBef>
              <a:defRPr sz="1300" b="1">
                <a:solidFill>
                  <a:srgbClr val="1F2328"/>
                </a:solidFill>
              </a:defRPr>
            </a:pPr>
            <a:r>
              <a:t>Presented by: Gaurav Salekar</a:t>
            </a:r>
            <a:br/>
            <a:r>
              <a:t>Department of Information Technology, ACPCE</a:t>
            </a:r>
            <a:br/>
            <a:r>
              <a:t>Thank You!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